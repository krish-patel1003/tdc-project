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y="5143500" cx="9144000"/>
  <p:notesSz cx="6858000" cy="9144000"/>
  <p:embeddedFontLst>
    <p:embeddedFont>
      <p:font typeface="Raleway"/>
      <p:regular r:id="rId25"/>
      <p:bold r:id="rId26"/>
      <p:italic r:id="rId27"/>
      <p:boldItalic r:id="rId28"/>
    </p:embeddedFont>
    <p:embeddedFont>
      <p:font typeface="Lato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Raleway-bold.fntdata"/><Relationship Id="rId25" Type="http://schemas.openxmlformats.org/officeDocument/2006/relationships/font" Target="fonts/Raleway-regular.fntdata"/><Relationship Id="rId28" Type="http://schemas.openxmlformats.org/officeDocument/2006/relationships/font" Target="fonts/Raleway-boldItalic.fntdata"/><Relationship Id="rId27" Type="http://schemas.openxmlformats.org/officeDocument/2006/relationships/font" Target="fonts/Raleway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Lato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Lato-italic.fntdata"/><Relationship Id="rId30" Type="http://schemas.openxmlformats.org/officeDocument/2006/relationships/font" Target="fonts/Lato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32" Type="http://schemas.openxmlformats.org/officeDocument/2006/relationships/font" Target="fonts/Lato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da70546704_0_2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da70546704_0_2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da70546704_0_2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da70546704_0_2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a70546704_0_2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a70546704_0_2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a70546704_0_2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a70546704_0_2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da70546704_0_2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da70546704_0_2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a70546704_0_2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da70546704_0_2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da70546704_0_2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da70546704_0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da70546704_0_2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da70546704_0_2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a70546704_0_3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da70546704_0_3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da70546704_0_3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da70546704_0_3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a70546704_0_3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da70546704_0_3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da70546704_0_3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da70546704_0_3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a70546704_0_3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da70546704_0_3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da70546704_0_3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da70546704_0_3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a70546704_0_3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a70546704_0_3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da70546704_0_3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da70546704_0_3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da70546704_0_3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da70546704_0_3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da70546704_0_4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da70546704_0_4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Federated Fine-Tuning of Large Language Models via LoRA Adapters: A Flower-Based Simulation Study</a:t>
            </a:r>
            <a:endParaRPr/>
          </a:p>
        </p:txBody>
      </p:sp>
      <p:sp>
        <p:nvSpPr>
          <p:cNvPr id="87" name="Google Shape;87;p13"/>
          <p:cNvSpPr txBox="1"/>
          <p:nvPr>
            <p:ph idx="1" type="subTitle"/>
          </p:nvPr>
        </p:nvSpPr>
        <p:spPr>
          <a:xfrm>
            <a:off x="727952" y="413055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 Team 16: Krish Patel and Ayush Alpesh Gupta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Motivation and Problem Statement</a:t>
            </a:r>
            <a:endParaRPr/>
          </a:p>
        </p:txBody>
      </p:sp>
      <p:sp>
        <p:nvSpPr>
          <p:cNvPr id="93" name="Google Shape;93;p1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Raleway"/>
              <a:buChar char="●"/>
            </a:pP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Fine-tuning LLMs usually requires centralizing sensitive domain data</a:t>
            </a:r>
            <a:endParaRPr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Raleway"/>
              <a:buChar char="●"/>
            </a:pP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In healthcare, finance, and legal settings, data sharing is restricted</a:t>
            </a:r>
            <a:endParaRPr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Raleway"/>
              <a:buChar char="●"/>
            </a:pP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Federated learning solves this by keeping data local</a:t>
            </a:r>
            <a:endParaRPr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Raleway"/>
              <a:buChar char="●"/>
            </a:pP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But direct FL on LLMs is difficult because:</a:t>
            </a:r>
            <a:endParaRPr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Raleway"/>
              <a:buChar char="○"/>
            </a:pP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full-model communication is too expensive</a:t>
            </a:r>
            <a:endParaRPr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Raleway"/>
              <a:buChar char="○"/>
            </a:pP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full-model fine-tuning is too memory intensive</a:t>
            </a:r>
            <a:endParaRPr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●"/>
            </a:pP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Our question: can </a:t>
            </a:r>
            <a:r>
              <a:rPr b="1"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LoRA + QLoRA + Flower</a:t>
            </a: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make federated LLM fine-tuning practical?</a:t>
            </a:r>
            <a:endParaRPr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500"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827900" y="6049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Research Objectives</a:t>
            </a:r>
            <a:endParaRPr/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727650" y="1427375"/>
            <a:ext cx="7788900" cy="342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5437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25"/>
              <a:buFont typeface="Raleway"/>
              <a:buAutoNum type="arabicPeriod"/>
            </a:pPr>
            <a:r>
              <a:rPr lang="en" sz="1525">
                <a:latin typeface="Raleway"/>
                <a:ea typeface="Raleway"/>
                <a:cs typeface="Raleway"/>
                <a:sym typeface="Raleway"/>
              </a:rPr>
              <a:t>Build a reproducible federated fine-tuning pipeline for an LLM</a:t>
            </a:r>
            <a:endParaRPr sz="1525">
              <a:latin typeface="Raleway"/>
              <a:ea typeface="Raleway"/>
              <a:cs typeface="Raleway"/>
              <a:sym typeface="Raleway"/>
            </a:endParaRPr>
          </a:p>
          <a:p>
            <a:pPr indent="-325437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25"/>
              <a:buFont typeface="Raleway"/>
              <a:buAutoNum type="arabicPeriod"/>
            </a:pPr>
            <a:r>
              <a:rPr lang="en" sz="1525">
                <a:latin typeface="Raleway"/>
                <a:ea typeface="Raleway"/>
                <a:cs typeface="Raleway"/>
                <a:sym typeface="Raleway"/>
              </a:rPr>
              <a:t>Use adapter-based tuning instead of full-model updates</a:t>
            </a:r>
            <a:endParaRPr sz="1525">
              <a:latin typeface="Raleway"/>
              <a:ea typeface="Raleway"/>
              <a:cs typeface="Raleway"/>
              <a:sym typeface="Raleway"/>
            </a:endParaRPr>
          </a:p>
          <a:p>
            <a:pPr indent="-325437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25"/>
              <a:buFont typeface="Raleway"/>
              <a:buAutoNum type="arabicPeriod"/>
            </a:pPr>
            <a:r>
              <a:rPr lang="en" sz="1525">
                <a:latin typeface="Raleway"/>
                <a:ea typeface="Raleway"/>
                <a:cs typeface="Raleway"/>
                <a:sym typeface="Raleway"/>
              </a:rPr>
              <a:t>Measure:</a:t>
            </a:r>
            <a:endParaRPr sz="1525">
              <a:latin typeface="Raleway"/>
              <a:ea typeface="Raleway"/>
              <a:cs typeface="Raleway"/>
              <a:sym typeface="Raleway"/>
            </a:endParaRPr>
          </a:p>
          <a:p>
            <a:pPr indent="-298450" lvl="0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525">
                <a:latin typeface="Raleway"/>
                <a:ea typeface="Raleway"/>
                <a:cs typeface="Raleway"/>
                <a:sym typeface="Raleway"/>
              </a:rPr>
              <a:t>convergence behavior</a:t>
            </a:r>
            <a:endParaRPr sz="1525">
              <a:latin typeface="Raleway"/>
              <a:ea typeface="Raleway"/>
              <a:cs typeface="Raleway"/>
              <a:sym typeface="Raleway"/>
            </a:endParaRPr>
          </a:p>
          <a:p>
            <a:pPr indent="-298450" lvl="0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525">
                <a:latin typeface="Raleway"/>
                <a:ea typeface="Raleway"/>
                <a:cs typeface="Raleway"/>
                <a:sym typeface="Raleway"/>
              </a:rPr>
              <a:t>fairness across clients</a:t>
            </a:r>
            <a:endParaRPr sz="1525">
              <a:latin typeface="Raleway"/>
              <a:ea typeface="Raleway"/>
              <a:cs typeface="Raleway"/>
              <a:sym typeface="Raleway"/>
            </a:endParaRPr>
          </a:p>
          <a:p>
            <a:pPr indent="-298450" lvl="0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525">
                <a:latin typeface="Raleway"/>
                <a:ea typeface="Raleway"/>
                <a:cs typeface="Raleway"/>
                <a:sym typeface="Raleway"/>
              </a:rPr>
              <a:t>communication cost</a:t>
            </a:r>
            <a:endParaRPr sz="1525">
              <a:latin typeface="Raleway"/>
              <a:ea typeface="Raleway"/>
              <a:cs typeface="Raleway"/>
              <a:sym typeface="Raleway"/>
            </a:endParaRPr>
          </a:p>
          <a:p>
            <a:pPr indent="-298450" lvl="0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525">
                <a:latin typeface="Raleway"/>
                <a:ea typeface="Raleway"/>
                <a:cs typeface="Raleway"/>
                <a:sym typeface="Raleway"/>
              </a:rPr>
              <a:t>token-level performance</a:t>
            </a:r>
            <a:endParaRPr sz="1525">
              <a:latin typeface="Raleway"/>
              <a:ea typeface="Raleway"/>
              <a:cs typeface="Raleway"/>
              <a:sym typeface="Raleway"/>
            </a:endParaRPr>
          </a:p>
          <a:p>
            <a:pPr indent="-325437" lvl="0" marL="457200" rtl="0" algn="l">
              <a:spcBef>
                <a:spcPts val="0"/>
              </a:spcBef>
              <a:spcAft>
                <a:spcPts val="0"/>
              </a:spcAft>
              <a:buSzPts val="1525"/>
              <a:buFont typeface="Raleway"/>
              <a:buAutoNum type="arabicPeriod"/>
            </a:pPr>
            <a:r>
              <a:rPr lang="en" sz="1525">
                <a:latin typeface="Raleway"/>
                <a:ea typeface="Raleway"/>
                <a:cs typeface="Raleway"/>
                <a:sym typeface="Raleway"/>
              </a:rPr>
              <a:t>Compare four settings:</a:t>
            </a:r>
            <a:endParaRPr sz="1525">
              <a:latin typeface="Raleway"/>
              <a:ea typeface="Raleway"/>
              <a:cs typeface="Raleway"/>
              <a:sym typeface="Raleway"/>
            </a:endParaRPr>
          </a:p>
          <a:p>
            <a:pPr indent="-298450" lvl="0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525">
                <a:latin typeface="Raleway"/>
                <a:ea typeface="Raleway"/>
                <a:cs typeface="Raleway"/>
                <a:sym typeface="Raleway"/>
              </a:rPr>
              <a:t>IID baseline</a:t>
            </a:r>
            <a:endParaRPr sz="1525">
              <a:latin typeface="Raleway"/>
              <a:ea typeface="Raleway"/>
              <a:cs typeface="Raleway"/>
              <a:sym typeface="Raleway"/>
            </a:endParaRPr>
          </a:p>
          <a:p>
            <a:pPr indent="-298450" lvl="0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525">
                <a:latin typeface="Raleway"/>
                <a:ea typeface="Raleway"/>
                <a:cs typeface="Raleway"/>
                <a:sym typeface="Raleway"/>
              </a:rPr>
              <a:t>non-IID baseline</a:t>
            </a:r>
            <a:endParaRPr sz="1525">
              <a:latin typeface="Raleway"/>
              <a:ea typeface="Raleway"/>
              <a:cs typeface="Raleway"/>
              <a:sym typeface="Raleway"/>
            </a:endParaRPr>
          </a:p>
          <a:p>
            <a:pPr indent="-298450" lvl="0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525">
                <a:latin typeface="Raleway"/>
                <a:ea typeface="Raleway"/>
                <a:cs typeface="Raleway"/>
                <a:sym typeface="Raleway"/>
              </a:rPr>
              <a:t>higher client fraction</a:t>
            </a:r>
            <a:endParaRPr sz="1525">
              <a:latin typeface="Raleway"/>
              <a:ea typeface="Raleway"/>
              <a:cs typeface="Raleway"/>
              <a:sym typeface="Raleway"/>
            </a:endParaRPr>
          </a:p>
          <a:p>
            <a:pPr indent="-298450" lvl="0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525">
                <a:latin typeface="Raleway"/>
                <a:ea typeface="Raleway"/>
                <a:cs typeface="Raleway"/>
                <a:sym typeface="Raleway"/>
              </a:rPr>
              <a:t>more rounds</a:t>
            </a:r>
            <a:endParaRPr sz="1525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275"/>
              <a:buNone/>
            </a:pPr>
            <a:r>
              <a:t/>
            </a:r>
            <a:endParaRPr sz="1225"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Background: Federated Learning</a:t>
            </a:r>
            <a:endParaRPr/>
          </a:p>
        </p:txBody>
      </p:sp>
      <p:sp>
        <p:nvSpPr>
          <p:cNvPr id="105" name="Google Shape;105;p16"/>
          <p:cNvSpPr txBox="1"/>
          <p:nvPr>
            <p:ph idx="1" type="body"/>
          </p:nvPr>
        </p:nvSpPr>
        <p:spPr>
          <a:xfrm>
            <a:off x="729450" y="1962600"/>
            <a:ext cx="7688700" cy="268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Raleway"/>
              <a:buChar char="●"/>
            </a:pP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Central server + multiple clients</a:t>
            </a:r>
            <a:endParaRPr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Raleway"/>
              <a:buChar char="●"/>
            </a:pP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Each client trains locally on private data</a:t>
            </a:r>
            <a:endParaRPr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Raleway"/>
              <a:buChar char="●"/>
            </a:pP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Clients send updates, not raw examples</a:t>
            </a:r>
            <a:endParaRPr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Raleway"/>
              <a:buChar char="●"/>
            </a:pP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Server aggregates updates using </a:t>
            </a:r>
            <a:r>
              <a:rPr b="1"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FedAvg</a:t>
            </a:r>
            <a:endParaRPr b="1"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Raleway"/>
              <a:buChar char="●"/>
            </a:pP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Standard round:</a:t>
            </a:r>
            <a:endParaRPr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Raleway"/>
              <a:buAutoNum type="arabicPeriod"/>
            </a:pP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server broadcasts current parameters</a:t>
            </a:r>
            <a:endParaRPr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Raleway"/>
              <a:buAutoNum type="arabicPeriod"/>
            </a:pP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selected clients train locally</a:t>
            </a:r>
            <a:endParaRPr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Raleway"/>
              <a:buAutoNum type="arabicPeriod"/>
            </a:pP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server aggregates updates</a:t>
            </a:r>
            <a:endParaRPr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Background: Why LoRA and QLoRA</a:t>
            </a:r>
            <a:endParaRPr/>
          </a:p>
        </p:txBody>
      </p:sp>
      <p:sp>
        <p:nvSpPr>
          <p:cNvPr id="111" name="Google Shape;111;p1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10000"/>
          </a:bodyPr>
          <a:lstStyle/>
          <a:p>
            <a:pPr indent="-325892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Raleway"/>
              <a:buChar char="●"/>
            </a:pPr>
            <a:r>
              <a:rPr lang="en" sz="6128">
                <a:latin typeface="Raleway"/>
                <a:ea typeface="Raleway"/>
                <a:cs typeface="Raleway"/>
                <a:sym typeface="Raleway"/>
              </a:rPr>
              <a:t>LoRA freezes the pretrained model and trains low-rank adapter matrices</a:t>
            </a:r>
            <a:endParaRPr sz="6128">
              <a:latin typeface="Raleway"/>
              <a:ea typeface="Raleway"/>
              <a:cs typeface="Raleway"/>
              <a:sym typeface="Raleway"/>
            </a:endParaRPr>
          </a:p>
          <a:p>
            <a:pPr indent="-325892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Raleway"/>
              <a:buChar char="●"/>
            </a:pPr>
            <a:r>
              <a:rPr lang="en" sz="6128">
                <a:latin typeface="Raleway"/>
                <a:ea typeface="Raleway"/>
                <a:cs typeface="Raleway"/>
                <a:sym typeface="Raleway"/>
              </a:rPr>
              <a:t>Instead of updating full weight matrix 𝑊 LoRA learns a low-rank update</a:t>
            </a:r>
            <a:endParaRPr sz="6128">
              <a:latin typeface="Raleway"/>
              <a:ea typeface="Raleway"/>
              <a:cs typeface="Raleway"/>
              <a:sym typeface="Raleway"/>
            </a:endParaRPr>
          </a:p>
          <a:p>
            <a:pPr indent="-325892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Raleway"/>
              <a:buChar char="●"/>
            </a:pPr>
            <a:r>
              <a:rPr lang="en" sz="6128">
                <a:latin typeface="Raleway"/>
                <a:ea typeface="Raleway"/>
                <a:cs typeface="Raleway"/>
                <a:sym typeface="Raleway"/>
              </a:rPr>
              <a:t>Benefits:</a:t>
            </a:r>
            <a:endParaRPr sz="6128">
              <a:latin typeface="Raleway"/>
              <a:ea typeface="Raleway"/>
              <a:cs typeface="Raleway"/>
              <a:sym typeface="Raleway"/>
            </a:endParaRPr>
          </a:p>
          <a:p>
            <a:pPr indent="-325892" lvl="1" marL="914400" rtl="0" algn="l">
              <a:spcBef>
                <a:spcPts val="0"/>
              </a:spcBef>
              <a:spcAft>
                <a:spcPts val="0"/>
              </a:spcAft>
              <a:buSzPct val="100000"/>
              <a:buFont typeface="Raleway"/>
              <a:buChar char="○"/>
            </a:pPr>
            <a:r>
              <a:rPr lang="en" sz="6128">
                <a:latin typeface="Raleway"/>
                <a:ea typeface="Raleway"/>
                <a:cs typeface="Raleway"/>
                <a:sym typeface="Raleway"/>
              </a:rPr>
              <a:t>fewer trainable parameters</a:t>
            </a:r>
            <a:endParaRPr sz="6128">
              <a:latin typeface="Raleway"/>
              <a:ea typeface="Raleway"/>
              <a:cs typeface="Raleway"/>
              <a:sym typeface="Raleway"/>
            </a:endParaRPr>
          </a:p>
          <a:p>
            <a:pPr indent="-325892" lvl="1" marL="914400" rtl="0" algn="l">
              <a:spcBef>
                <a:spcPts val="0"/>
              </a:spcBef>
              <a:spcAft>
                <a:spcPts val="0"/>
              </a:spcAft>
              <a:buSzPct val="100000"/>
              <a:buFont typeface="Raleway"/>
              <a:buChar char="○"/>
            </a:pPr>
            <a:r>
              <a:rPr lang="en" sz="6128">
                <a:latin typeface="Raleway"/>
                <a:ea typeface="Raleway"/>
                <a:cs typeface="Raleway"/>
                <a:sym typeface="Raleway"/>
              </a:rPr>
              <a:t>lower communication</a:t>
            </a:r>
            <a:endParaRPr sz="6128">
              <a:latin typeface="Raleway"/>
              <a:ea typeface="Raleway"/>
              <a:cs typeface="Raleway"/>
              <a:sym typeface="Raleway"/>
            </a:endParaRPr>
          </a:p>
          <a:p>
            <a:pPr indent="-325892" lvl="1" marL="914400" rtl="0" algn="l">
              <a:spcBef>
                <a:spcPts val="0"/>
              </a:spcBef>
              <a:spcAft>
                <a:spcPts val="0"/>
              </a:spcAft>
              <a:buSzPct val="100000"/>
              <a:buFont typeface="Raleway"/>
              <a:buChar char="○"/>
            </a:pPr>
            <a:r>
              <a:rPr lang="en" sz="6128">
                <a:latin typeface="Raleway"/>
                <a:ea typeface="Raleway"/>
                <a:cs typeface="Raleway"/>
                <a:sym typeface="Raleway"/>
              </a:rPr>
              <a:t>lower memory use</a:t>
            </a:r>
            <a:endParaRPr sz="6128">
              <a:latin typeface="Raleway"/>
              <a:ea typeface="Raleway"/>
              <a:cs typeface="Raleway"/>
              <a:sym typeface="Raleway"/>
            </a:endParaRPr>
          </a:p>
          <a:p>
            <a:pPr indent="-325892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Raleway"/>
              <a:buChar char="●"/>
            </a:pPr>
            <a:r>
              <a:rPr lang="en" sz="6128">
                <a:latin typeface="Raleway"/>
                <a:ea typeface="Raleway"/>
                <a:cs typeface="Raleway"/>
                <a:sym typeface="Raleway"/>
              </a:rPr>
              <a:t>QLoRA adds 4-bit quantization to reduce base-model memory further</a:t>
            </a:r>
            <a:endParaRPr sz="6128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System Pipeline </a:t>
            </a:r>
            <a:endParaRPr/>
          </a:p>
        </p:txBody>
      </p:sp>
      <p:sp>
        <p:nvSpPr>
          <p:cNvPr id="117" name="Google Shape;117;p1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Dataset loaded and formatted into instruction-style prompts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Data partitioned across 8 simulated clients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Base model: Phi-2 loaded in 4-bit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LoRA adapters attached to attention projections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Flower simulation orchestrates rounds, client selection, and aggregation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Only LoRA adapter weights are exchanged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727650" y="6119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 and Training Configuration</a:t>
            </a:r>
            <a:endParaRPr/>
          </a:p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727650" y="1424475"/>
            <a:ext cx="8153100" cy="306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-32476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057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Base model: </a:t>
            </a:r>
            <a:r>
              <a:rPr b="1" lang="en" sz="6057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Microsoft Phi-2</a:t>
            </a:r>
            <a:endParaRPr b="1" sz="6057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476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057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Model size: </a:t>
            </a:r>
            <a:r>
              <a:rPr b="1" lang="en" sz="6057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2.7B parameters</a:t>
            </a:r>
            <a:endParaRPr b="1" sz="6057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476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057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LoRA settings:</a:t>
            </a:r>
            <a:endParaRPr sz="6057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4765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○"/>
            </a:pPr>
            <a:r>
              <a:rPr lang="en" sz="6057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rank r=8r = 8r=8</a:t>
            </a:r>
            <a:endParaRPr sz="6057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4765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○"/>
            </a:pPr>
            <a:r>
              <a:rPr lang="en" sz="6057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scaling factor α=16\alpha = 16α=16</a:t>
            </a:r>
            <a:endParaRPr sz="6057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4765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○"/>
            </a:pPr>
            <a:r>
              <a:rPr lang="en" sz="6057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dropout = 0.05</a:t>
            </a:r>
            <a:endParaRPr sz="6057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4765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○"/>
            </a:pPr>
            <a:r>
              <a:rPr lang="en" sz="6057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bias = none</a:t>
            </a:r>
            <a:endParaRPr sz="6057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476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057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LoRA applied to:</a:t>
            </a:r>
            <a:endParaRPr sz="6057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4765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○"/>
            </a:pPr>
            <a:r>
              <a:rPr lang="en" sz="6057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q_proj</a:t>
            </a:r>
            <a:endParaRPr sz="6057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4765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○"/>
            </a:pPr>
            <a:r>
              <a:rPr lang="en" sz="6057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k_proj</a:t>
            </a:r>
            <a:endParaRPr sz="6057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4765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○"/>
            </a:pPr>
            <a:r>
              <a:rPr lang="en" sz="6057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v_proj</a:t>
            </a:r>
            <a:endParaRPr sz="6057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4765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○"/>
            </a:pPr>
            <a:r>
              <a:rPr lang="en" sz="6057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dense</a:t>
            </a:r>
            <a:endParaRPr sz="6057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476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057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Trainable parameters: </a:t>
            </a:r>
            <a:r>
              <a:rPr b="1" lang="en" sz="6057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11,796,480</a:t>
            </a:r>
            <a:endParaRPr b="1" sz="6057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476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057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This is </a:t>
            </a:r>
            <a:r>
              <a:rPr b="1" lang="en" sz="6057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0.42%</a:t>
            </a:r>
            <a:r>
              <a:rPr lang="en" sz="6057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of full model parameters</a:t>
            </a:r>
            <a:endParaRPr sz="6057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Dataset and Client Partitioning</a:t>
            </a:r>
            <a:endParaRPr/>
          </a:p>
        </p:txBody>
      </p:sp>
      <p:sp>
        <p:nvSpPr>
          <p:cNvPr id="129" name="Google Shape;129;p20"/>
          <p:cNvSpPr txBox="1"/>
          <p:nvPr>
            <p:ph idx="1" type="body"/>
          </p:nvPr>
        </p:nvSpPr>
        <p:spPr>
          <a:xfrm>
            <a:off x="729450" y="2078875"/>
            <a:ext cx="7688700" cy="290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10000"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Raleway"/>
              <a:buChar char="●"/>
            </a:pPr>
            <a:r>
              <a:rPr lang="en" sz="6000">
                <a:latin typeface="Raleway"/>
                <a:ea typeface="Raleway"/>
                <a:cs typeface="Raleway"/>
                <a:sym typeface="Raleway"/>
              </a:rPr>
              <a:t>Dataset: Alpaca-GPT4</a:t>
            </a:r>
            <a:endParaRPr sz="6000"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Raleway"/>
              <a:buChar char="●"/>
            </a:pPr>
            <a:r>
              <a:rPr lang="en" sz="6000">
                <a:latin typeface="Raleway"/>
                <a:ea typeface="Raleway"/>
                <a:cs typeface="Raleway"/>
                <a:sym typeface="Raleway"/>
              </a:rPr>
              <a:t>Original dataset size: about 52,000 instruction examples</a:t>
            </a:r>
            <a:endParaRPr sz="6000"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Raleway"/>
              <a:buChar char="●"/>
            </a:pPr>
            <a:r>
              <a:rPr lang="en" sz="6000">
                <a:latin typeface="Raleway"/>
                <a:ea typeface="Raleway"/>
                <a:cs typeface="Raleway"/>
                <a:sym typeface="Raleway"/>
              </a:rPr>
              <a:t>Subsample used:</a:t>
            </a:r>
            <a:endParaRPr sz="6000">
              <a:latin typeface="Raleway"/>
              <a:ea typeface="Raleway"/>
              <a:cs typeface="Raleway"/>
              <a:sym typeface="Raleway"/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ct val="100000"/>
              <a:buFont typeface="Raleway"/>
              <a:buChar char="○"/>
            </a:pPr>
            <a:r>
              <a:rPr lang="en" sz="6000">
                <a:latin typeface="Raleway"/>
                <a:ea typeface="Raleway"/>
                <a:cs typeface="Raleway"/>
                <a:sym typeface="Raleway"/>
              </a:rPr>
              <a:t>800 training</a:t>
            </a:r>
            <a:endParaRPr sz="6000">
              <a:latin typeface="Raleway"/>
              <a:ea typeface="Raleway"/>
              <a:cs typeface="Raleway"/>
              <a:sym typeface="Raleway"/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ct val="100000"/>
              <a:buFont typeface="Raleway"/>
              <a:buChar char="○"/>
            </a:pPr>
            <a:r>
              <a:rPr lang="en" sz="6000">
                <a:latin typeface="Raleway"/>
                <a:ea typeface="Raleway"/>
                <a:cs typeface="Raleway"/>
                <a:sym typeface="Raleway"/>
              </a:rPr>
              <a:t>200 validation</a:t>
            </a:r>
            <a:endParaRPr sz="6000"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Raleway"/>
              <a:buChar char="●"/>
            </a:pPr>
            <a:r>
              <a:rPr lang="en" sz="6000">
                <a:latin typeface="Raleway"/>
                <a:ea typeface="Raleway"/>
                <a:cs typeface="Raleway"/>
                <a:sym typeface="Raleway"/>
              </a:rPr>
              <a:t>8 simulated clients</a:t>
            </a:r>
            <a:endParaRPr sz="6000"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Raleway"/>
              <a:buChar char="●"/>
            </a:pPr>
            <a:r>
              <a:rPr lang="en" sz="6000">
                <a:latin typeface="Raleway"/>
                <a:ea typeface="Raleway"/>
                <a:cs typeface="Raleway"/>
                <a:sym typeface="Raleway"/>
              </a:rPr>
              <a:t>Two partition schemes:</a:t>
            </a:r>
            <a:endParaRPr sz="6000">
              <a:latin typeface="Raleway"/>
              <a:ea typeface="Raleway"/>
              <a:cs typeface="Raleway"/>
              <a:sym typeface="Raleway"/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ct val="100000"/>
              <a:buFont typeface="Raleway"/>
              <a:buChar char="○"/>
            </a:pPr>
            <a:r>
              <a:rPr lang="en" sz="6000">
                <a:latin typeface="Raleway"/>
                <a:ea typeface="Raleway"/>
                <a:cs typeface="Raleway"/>
                <a:sym typeface="Raleway"/>
              </a:rPr>
              <a:t>IID: roughly uniform random split</a:t>
            </a:r>
            <a:endParaRPr sz="6000">
              <a:latin typeface="Raleway"/>
              <a:ea typeface="Raleway"/>
              <a:cs typeface="Raleway"/>
              <a:sym typeface="Raleway"/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ct val="100000"/>
              <a:buFont typeface="Raleway"/>
              <a:buChar char="○"/>
            </a:pPr>
            <a:r>
              <a:rPr lang="en" sz="6000">
                <a:latin typeface="Raleway"/>
                <a:ea typeface="Raleway"/>
                <a:cs typeface="Raleway"/>
                <a:sym typeface="Raleway"/>
              </a:rPr>
              <a:t>Non-IID: grouped by short, long, and code-related responses</a:t>
            </a:r>
            <a:endParaRPr sz="6000"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Raleway"/>
              <a:buChar char="●"/>
            </a:pPr>
            <a:r>
              <a:rPr lang="en" sz="6000">
                <a:latin typeface="Raleway"/>
                <a:ea typeface="Raleway"/>
                <a:cs typeface="Raleway"/>
                <a:sym typeface="Raleway"/>
              </a:rPr>
              <a:t>Non-IID client sizes ranged from 20 to 261 examples</a:t>
            </a:r>
            <a:endParaRPr sz="60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Experimental Design</a:t>
            </a:r>
            <a:endParaRPr/>
          </a:p>
        </p:txBody>
      </p:sp>
      <p:sp>
        <p:nvSpPr>
          <p:cNvPr id="135" name="Google Shape;135;p2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17">
                <a:latin typeface="Raleway"/>
                <a:ea typeface="Raleway"/>
                <a:cs typeface="Raleway"/>
                <a:sym typeface="Raleway"/>
              </a:rPr>
              <a:t>Four experiments</a:t>
            </a:r>
            <a:endParaRPr sz="1517">
              <a:latin typeface="Raleway"/>
              <a:ea typeface="Raleway"/>
              <a:cs typeface="Raleway"/>
              <a:sym typeface="Raleway"/>
            </a:endParaRPr>
          </a:p>
          <a:p>
            <a:pPr indent="-324961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518"/>
              <a:buFont typeface="Raleway"/>
              <a:buAutoNum type="arabicPeriod"/>
            </a:pPr>
            <a:r>
              <a:rPr lang="en" sz="1517">
                <a:latin typeface="Raleway"/>
                <a:ea typeface="Raleway"/>
                <a:cs typeface="Raleway"/>
                <a:sym typeface="Raleway"/>
              </a:rPr>
              <a:t>IID Baseline  </a:t>
            </a:r>
            <a:endParaRPr sz="1517">
              <a:latin typeface="Raleway"/>
              <a:ea typeface="Raleway"/>
              <a:cs typeface="Raleway"/>
              <a:sym typeface="Raleway"/>
            </a:endParaRPr>
          </a:p>
          <a:p>
            <a:pPr indent="-32496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18"/>
              <a:buFont typeface="Raleway"/>
              <a:buAutoNum type="arabicPeriod"/>
            </a:pPr>
            <a:r>
              <a:rPr lang="en" sz="1517">
                <a:latin typeface="Raleway"/>
                <a:ea typeface="Raleway"/>
                <a:cs typeface="Raleway"/>
                <a:sym typeface="Raleway"/>
              </a:rPr>
              <a:t>Non-IID Baseline </a:t>
            </a:r>
            <a:endParaRPr sz="1517">
              <a:latin typeface="Raleway"/>
              <a:ea typeface="Raleway"/>
              <a:cs typeface="Raleway"/>
              <a:sym typeface="Raleway"/>
            </a:endParaRPr>
          </a:p>
          <a:p>
            <a:pPr indent="-32496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18"/>
              <a:buFont typeface="Raleway"/>
              <a:buAutoNum type="arabicPeriod"/>
            </a:pPr>
            <a:r>
              <a:rPr lang="en" sz="1517">
                <a:latin typeface="Raleway"/>
                <a:ea typeface="Raleway"/>
                <a:cs typeface="Raleway"/>
                <a:sym typeface="Raleway"/>
              </a:rPr>
              <a:t>High Client Fraction </a:t>
            </a:r>
            <a:endParaRPr sz="1517">
              <a:latin typeface="Raleway"/>
              <a:ea typeface="Raleway"/>
              <a:cs typeface="Raleway"/>
              <a:sym typeface="Raleway"/>
            </a:endParaRPr>
          </a:p>
          <a:p>
            <a:pPr indent="-32496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18"/>
              <a:buFont typeface="Raleway"/>
              <a:buAutoNum type="arabicPeriod"/>
            </a:pPr>
            <a:r>
              <a:rPr lang="en" sz="1517">
                <a:latin typeface="Raleway"/>
                <a:ea typeface="Raleway"/>
                <a:cs typeface="Raleway"/>
                <a:sym typeface="Raleway"/>
              </a:rPr>
              <a:t>More Rounds </a:t>
            </a:r>
            <a:endParaRPr sz="1517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17"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Evaluation Metrics</a:t>
            </a:r>
            <a:endParaRPr/>
          </a:p>
        </p:txBody>
      </p:sp>
      <p:sp>
        <p:nvSpPr>
          <p:cNvPr id="141" name="Google Shape;141;p2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Training loss</a:t>
            </a:r>
            <a:endParaRPr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Validation loss</a:t>
            </a:r>
            <a:endParaRPr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Perplexity = exp⁡(L</a:t>
            </a:r>
            <a:r>
              <a:rPr lang="en" sz="44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val</a:t>
            </a: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)</a:t>
            </a:r>
            <a:endParaRPr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Token accuracy</a:t>
            </a:r>
            <a:endParaRPr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Client validation loss gap</a:t>
            </a:r>
            <a:endParaRPr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Communication cost</a:t>
            </a:r>
            <a:endParaRPr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Runtime</a:t>
            </a:r>
            <a:endParaRPr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Why client loss gap matters</a:t>
            </a:r>
            <a:endParaRPr b="1"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measures fairness / heterogeneity</a:t>
            </a:r>
            <a:endParaRPr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defined as max client validation loss minus min client validation loss</a:t>
            </a:r>
            <a:endParaRPr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Main Result Table</a:t>
            </a:r>
            <a:endParaRPr/>
          </a:p>
        </p:txBody>
      </p:sp>
      <p:pic>
        <p:nvPicPr>
          <p:cNvPr id="147" name="Google Shape;147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725" y="2674950"/>
            <a:ext cx="8839204" cy="828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Convergence Behavior</a:t>
            </a:r>
            <a:endParaRPr/>
          </a:p>
        </p:txBody>
      </p:sp>
      <p:sp>
        <p:nvSpPr>
          <p:cNvPr id="153" name="Google Shape;153;p24"/>
          <p:cNvSpPr txBox="1"/>
          <p:nvPr>
            <p:ph idx="1" type="body"/>
          </p:nvPr>
        </p:nvSpPr>
        <p:spPr>
          <a:xfrm>
            <a:off x="729450" y="2078875"/>
            <a:ext cx="42084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75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Key observations</a:t>
            </a:r>
            <a:endParaRPr b="1" sz="175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14721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175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Training loss drops from </a:t>
            </a:r>
            <a:r>
              <a:rPr b="1" lang="en" sz="175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1.085 to 0.866</a:t>
            </a:r>
            <a:endParaRPr b="1" sz="175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1472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175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Validation loss decreases first, then oscillates</a:t>
            </a:r>
            <a:endParaRPr sz="175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1472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175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Best validation region occurs early, then rises again</a:t>
            </a:r>
            <a:endParaRPr sz="175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1472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175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Indicates </a:t>
            </a:r>
            <a:r>
              <a:rPr b="1" lang="en" sz="175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client drift</a:t>
            </a:r>
            <a:r>
              <a:rPr lang="en" sz="175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under heterogeneous local training</a:t>
            </a:r>
            <a:endParaRPr sz="175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54" name="Google Shape;154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73975" y="1997300"/>
            <a:ext cx="3901350" cy="21903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Perplexity Behavior</a:t>
            </a:r>
            <a:endParaRPr/>
          </a:p>
        </p:txBody>
      </p:sp>
      <p:sp>
        <p:nvSpPr>
          <p:cNvPr id="160" name="Google Shape;160;p25"/>
          <p:cNvSpPr txBox="1"/>
          <p:nvPr>
            <p:ph idx="1" type="body"/>
          </p:nvPr>
        </p:nvSpPr>
        <p:spPr>
          <a:xfrm>
            <a:off x="729450" y="2078875"/>
            <a:ext cx="34122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6149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Key observations</a:t>
            </a:r>
            <a:endParaRPr b="1" sz="6149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6225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6149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Perplexity ranges from </a:t>
            </a:r>
            <a:r>
              <a:rPr b="1" lang="en" sz="6149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2.566 to 2.771</a:t>
            </a:r>
            <a:endParaRPr b="1" sz="6149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622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149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Best value occurs around round 3</a:t>
            </a:r>
            <a:endParaRPr sz="6149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622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149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Later rounds do not guarantee better generalization</a:t>
            </a:r>
            <a:endParaRPr sz="6149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622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149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Confirms non-monotonic validation dynamics </a:t>
            </a:r>
            <a:endParaRPr sz="6149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61" name="Google Shape;16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4050" y="2006250"/>
            <a:ext cx="4697550" cy="26075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Fairness and Heterogeneity</a:t>
            </a:r>
            <a:endParaRPr/>
          </a:p>
        </p:txBody>
      </p:sp>
      <p:sp>
        <p:nvSpPr>
          <p:cNvPr id="167" name="Google Shape;167;p26"/>
          <p:cNvSpPr txBox="1"/>
          <p:nvPr>
            <p:ph idx="1" type="body"/>
          </p:nvPr>
        </p:nvSpPr>
        <p:spPr>
          <a:xfrm>
            <a:off x="729450" y="2078875"/>
            <a:ext cx="39132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75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Key observations</a:t>
            </a:r>
            <a:endParaRPr b="1" sz="175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14721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175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Client loss gap drops from </a:t>
            </a:r>
            <a:r>
              <a:rPr b="1" lang="en" sz="175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0.787 to 0.116</a:t>
            </a:r>
            <a:r>
              <a:rPr lang="en" sz="175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by round 5</a:t>
            </a:r>
            <a:endParaRPr sz="175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1472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175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Slight rebound to </a:t>
            </a:r>
            <a:r>
              <a:rPr b="1" lang="en" sz="175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0.223</a:t>
            </a:r>
            <a:r>
              <a:rPr lang="en" sz="175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in round 6</a:t>
            </a:r>
            <a:endParaRPr sz="175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1472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175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FedAvg helps distribute knowledge across clients</a:t>
            </a:r>
            <a:endParaRPr sz="175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1472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175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But fairness is not monotonic and depends on sampling</a:t>
            </a:r>
            <a:endParaRPr sz="175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68" name="Google Shape;168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95050" y="2006250"/>
            <a:ext cx="4196550" cy="2386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 Accuracy</a:t>
            </a:r>
            <a:endParaRPr/>
          </a:p>
        </p:txBody>
      </p:sp>
      <p:sp>
        <p:nvSpPr>
          <p:cNvPr id="174" name="Google Shape;174;p27"/>
          <p:cNvSpPr txBox="1"/>
          <p:nvPr>
            <p:ph idx="1" type="body"/>
          </p:nvPr>
        </p:nvSpPr>
        <p:spPr>
          <a:xfrm>
            <a:off x="729450" y="1916050"/>
            <a:ext cx="4065300" cy="301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Key observations</a:t>
            </a:r>
            <a:endParaRPr b="1"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●"/>
            </a:pP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Accuracy fluctuates in the </a:t>
            </a:r>
            <a:r>
              <a:rPr b="1"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1.75% to 2.32%</a:t>
            </a: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range in the 6-round run</a:t>
            </a:r>
            <a:endParaRPr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●"/>
            </a:pP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Highest final token accuracy across experiments is </a:t>
            </a:r>
            <a:r>
              <a:rPr b="1"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2.49%</a:t>
            </a: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in More Rounds</a:t>
            </a:r>
            <a:endParaRPr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Raleway"/>
              <a:buChar char="●"/>
            </a:pP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Metric is strict because it requires exact next-token match</a:t>
            </a:r>
            <a:endParaRPr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Raleway"/>
              <a:buChar char="●"/>
            </a:pPr>
            <a:r>
              <a:rPr lang="en" sz="15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Useful, but incomplete for instruction-following quality </a:t>
            </a:r>
            <a:endParaRPr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75" name="Google Shape;175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47150" y="2006250"/>
            <a:ext cx="4044450" cy="22450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Communication Efficiency</a:t>
            </a:r>
            <a:endParaRPr/>
          </a:p>
        </p:txBody>
      </p:sp>
      <p:sp>
        <p:nvSpPr>
          <p:cNvPr id="181" name="Google Shape;181;p28"/>
          <p:cNvSpPr txBox="1"/>
          <p:nvPr>
            <p:ph idx="1" type="body"/>
          </p:nvPr>
        </p:nvSpPr>
        <p:spPr>
          <a:xfrm>
            <a:off x="729450" y="2078875"/>
            <a:ext cx="36270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Key observations</a:t>
            </a:r>
            <a:endParaRPr b="1"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Communication grows </a:t>
            </a:r>
            <a:r>
              <a:rPr b="1"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linearly with rounds</a:t>
            </a:r>
            <a:endParaRPr b="1"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Each round costs ~94 MB</a:t>
            </a:r>
            <a:endParaRPr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Compared to ~10.8 GB per round for full model</a:t>
            </a:r>
            <a:endParaRPr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b="1"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114× reduction per round</a:t>
            </a:r>
            <a:endParaRPr b="1"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Total cost after 6 rounds: ~566 MB </a:t>
            </a:r>
            <a:endParaRPr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82" name="Google Shape;18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8850" y="2006250"/>
            <a:ext cx="4482750" cy="2598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9"/>
          <p:cNvSpPr txBox="1"/>
          <p:nvPr>
            <p:ph type="title"/>
          </p:nvPr>
        </p:nvSpPr>
        <p:spPr>
          <a:xfrm>
            <a:off x="727650" y="6209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Cross-Experiment Insights</a:t>
            </a:r>
            <a:endParaRPr/>
          </a:p>
        </p:txBody>
      </p:sp>
      <p:sp>
        <p:nvSpPr>
          <p:cNvPr id="188" name="Google Shape;188;p29"/>
          <p:cNvSpPr txBox="1"/>
          <p:nvPr>
            <p:ph idx="1" type="body"/>
          </p:nvPr>
        </p:nvSpPr>
        <p:spPr>
          <a:xfrm>
            <a:off x="727650" y="1354325"/>
            <a:ext cx="7688700" cy="364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Data heterogeneity</a:t>
            </a:r>
            <a:endParaRPr b="1"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Non-IID raises fairness gap from </a:t>
            </a:r>
            <a:r>
              <a:rPr b="1"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0.053 to 0.292</a:t>
            </a:r>
            <a:endParaRPr b="1"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About </a:t>
            </a:r>
            <a:r>
              <a:rPr b="1"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5.5× larger</a:t>
            </a: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 than IID</a:t>
            </a:r>
            <a:endParaRPr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Higher client fraction</a:t>
            </a:r>
            <a:endParaRPr b="1"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Reduces gap from </a:t>
            </a:r>
            <a:r>
              <a:rPr b="1"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0.292 to 0.213</a:t>
            </a:r>
            <a:endParaRPr b="1"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Improves token accuracy from </a:t>
            </a:r>
            <a:r>
              <a:rPr b="1"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1.91% to 2.21%</a:t>
            </a:r>
            <a:endParaRPr b="1"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More rounds</a:t>
            </a:r>
            <a:endParaRPr b="1"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Lowers training loss to </a:t>
            </a:r>
            <a:r>
              <a:rPr b="1"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0.783</a:t>
            </a:r>
            <a:endParaRPr b="1"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Raises token accuracy to </a:t>
            </a:r>
            <a:r>
              <a:rPr b="1"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2.49%</a:t>
            </a:r>
            <a:endParaRPr b="1"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But validation/perplexity improve only modestly</a:t>
            </a:r>
            <a:endParaRPr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Communication cost rises from </a:t>
            </a:r>
            <a:r>
              <a:rPr b="1" lang="en" sz="6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540 MB to 900 MB</a:t>
            </a:r>
            <a:endParaRPr b="1" sz="6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0"/>
          <p:cNvSpPr txBox="1"/>
          <p:nvPr>
            <p:ph type="title"/>
          </p:nvPr>
        </p:nvSpPr>
        <p:spPr>
          <a:xfrm>
            <a:off x="727650" y="6120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Discussion, Limitations, and Future Work</a:t>
            </a:r>
            <a:endParaRPr/>
          </a:p>
        </p:txBody>
      </p:sp>
      <p:sp>
        <p:nvSpPr>
          <p:cNvPr id="194" name="Google Shape;194;p30"/>
          <p:cNvSpPr txBox="1"/>
          <p:nvPr>
            <p:ph idx="1" type="body"/>
          </p:nvPr>
        </p:nvSpPr>
        <p:spPr>
          <a:xfrm>
            <a:off x="727650" y="1254550"/>
            <a:ext cx="7688700" cy="37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5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Practical implications</a:t>
            </a:r>
            <a:endParaRPr b="1" sz="52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5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LoRA + QLoRA makes FL of LLMs feasible</a:t>
            </a:r>
            <a:endParaRPr sz="52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5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Communication bottleneck is greatly reduced</a:t>
            </a:r>
            <a:endParaRPr sz="52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5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Compute bottleneck remains on client side</a:t>
            </a:r>
            <a:endParaRPr sz="52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5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Limitations</a:t>
            </a:r>
            <a:endParaRPr b="1" sz="52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5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only 800 train / 200 validation examples</a:t>
            </a:r>
            <a:endParaRPr sz="52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5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6 to 10 rounds only</a:t>
            </a:r>
            <a:endParaRPr sz="52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5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single local epoch</a:t>
            </a:r>
            <a:endParaRPr sz="52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5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token accuracy is limited as a quality metric</a:t>
            </a:r>
            <a:endParaRPr sz="52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5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Future work</a:t>
            </a:r>
            <a:endParaRPr b="1" sz="52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5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FedProx / SCAFFOLD</a:t>
            </a:r>
            <a:endParaRPr sz="52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5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personalized adapters</a:t>
            </a:r>
            <a:endParaRPr sz="52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5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larger datasets</a:t>
            </a:r>
            <a:endParaRPr sz="52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Raleway"/>
              <a:buChar char="●"/>
            </a:pPr>
            <a:r>
              <a:rPr lang="en" sz="52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better generation-quality metrics</a:t>
            </a:r>
            <a:endParaRPr sz="52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1"/>
          <p:cNvSpPr txBox="1"/>
          <p:nvPr>
            <p:ph type="title"/>
          </p:nvPr>
        </p:nvSpPr>
        <p:spPr>
          <a:xfrm>
            <a:off x="727650" y="23041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Questions?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