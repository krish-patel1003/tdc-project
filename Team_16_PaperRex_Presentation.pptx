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aleway"/>
      <p:regular r:id="rId25"/>
      <p:bold r:id="rId26"/>
      <p:italic r:id="rId27"/>
      <p:boldItalic r:id="rId28"/>
    </p:embeddedFon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bold.fntdata"/><Relationship Id="rId25" Type="http://schemas.openxmlformats.org/officeDocument/2006/relationships/font" Target="fonts/Raleway-regular.fntdata"/><Relationship Id="rId28" Type="http://schemas.openxmlformats.org/officeDocument/2006/relationships/font" Target="fonts/Raleway-boldItalic.fntdata"/><Relationship Id="rId27" Type="http://schemas.openxmlformats.org/officeDocument/2006/relationships/font" Target="fonts/Raleway-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a70546704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a70546704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Good [morning/afternoon]. Our project is on federated fine-tuning of large language models using LoRA adapters in a Flower-based simulation. The goal was to study whether we can adapt a large model in a privacy-preserving way while keeping communication and memory costs manageable.</a:t>
            </a:r>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a70546704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da70546704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motivation for this work is the tension between model personalization and privacy. LLMs need task-specific fine-tuning, but in many real-world domains we cannot centralize the data. Federated learning helps by sending model updates instead of raw data. The issue is that LLMs are extremely large, so both transmitting and training full weights are expensive. That is why we combine federated learning with parameter-efficient tuning.</a:t>
            </a:r>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a70546704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a70546704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shows the basic federated learning workflow. The server chooses a subset of clients, sends them the current global parameters, each client performs local training, and the server aggregates the updates. In our case, the aggregation algorithm is FedAvg with sample-count-proportional weighting. This architecture is exactly how our Flower simulation is organized.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a70546704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a70546704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LoRA is the key enabler here. Rather than updating all transformer weights, it inserts low-rank trainable matrices into selected layers. This dramatically reduces the number of trainable parameters. QLoRA goes one step further by loading the base model in 4-bit form, which reduces GPU memory requirements and makes a 2.7B model feasible in Colab-scale hardware. The paper explains this as a reduction from O(d2)O(d^2)O(d2) trainable parameters to O(2dr)O(2dr)O(2dr) for the adapted matrices.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a70546704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a70546704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notebook-level workflow. We first format instruction tuning examples, then partition them into client datasets. Next, we load the quantized base model, attach LoRA adapters, and use Flower’s simulation API to run the federated rounds. Each selected client trains on its local partition, and only the LoRA adapter weights are sent back for aggregation. This keeps the process much lighter than federating the full model.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a70546704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da70546704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use Phi-2 as the base LLM. The model is 2.7 billion parameters, but the trainable LoRA portion is only about 11.8 million parameters, which is 0.42% of the full model. LoRA is applied to the main attention projection layers. This is one of the most important design choices, because it makes communication-efficient federated fine-tuning feasible.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a70546704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a70546704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the dataset, we used Alpaca-GPT4 and subsampled 800 training and 200 validation examples for feasibility. We then created 8 simulated clients. In the IID setting, the data is randomly distributed. In the non-IID setting, we intentionally introduced semantic imbalance by grouping data into short responses, long responses, and code-related tasks. This creates a more realistic heterogeneity pattern.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a70546704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a70546704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These are the four main experimental configurations. The IID baseline is our reference point. The non-IID baseline isolates the effect of data heterogeneity. The high-client-fraction experiment checks whether broader participation helps represent the global data distribution better. And the more-rounds experiment checks whether additional communication can compensate for heterogeneity. </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a70546704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a70546704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We evaluated the system using both optimization and systems metrics. Training loss and validation loss show convergence. Perplexity translates validation loss into a standard language-modeling metric. Token accuracy gives exact next-token correctness, though it is strict. The most important fairness metric is the client validation loss gap, which measures disparity across clients. Communication cost and runtime capture system efficiency. </a:t>
            </a:r>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a70546704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a70546704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table summarizes the final outcomes across all four experiments. The IID baseline has the best validation loss and the smallest fairness gap. The non-IID baseline has lower training loss but clearly worse fairness and slightly worse validation performance. Increasing client fraction improves token accuracy and fairness relative to non-IID. More rounds gives the lowest training loss and the highest token accuracy, but validation performance does not improve proportionally, showing diminishing returns.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a70546704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a70546704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plot shows the classic federated learning behavior under non-IID conditions. Training loss steadily decreases, which means local optimization is working. But validation loss is not monotonic; it drops initially and then oscillates. The paper interprets this as client drift, where local models overfit to their own data distributions and aggregation does not always produce equally strong global generalization.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a70546704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da70546704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Perplexity is the exponential of validation loss, so it mirrors the same pattern. The main takeaway here is that better local optimization does not automatically translate into better global language-modeling quality. This is why simply increasing rounds is not always enough in federated settings, especially with heterogeneous data.</a:t>
            </a:r>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a70546704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da70546704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This is one of the strongest plots in the presentation. The fairness gap falls sharply in the early rounds, which suggests that federated aggregation helps weaker or smaller clients benefit from the collective model. However, the rebound in the final round shows that fairness remains sensitive to which clients are selected and how heterogeneous their data is. The paper explicitly points to fairness-aware client selection as a possible next step.</a:t>
            </a:r>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a70546704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da70546704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Token accuracy is low in absolute terms, but that is expected. It measures exact next-token matches, which is a very strict metric for instruction tuning because many different responses can still be valid. That is why the paper treats token accuracy as informative but not sufficient, and suggests future evaluation with ROUGE, BLEU, or judge-based methods.</a:t>
            </a:r>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a70546704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da70546704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captures the main systems contribution. By transmitting only LoRA adapters, each round costs about 94.4 MB instead of around 10.8 GB for full FP32 model transmission. Over six rounds, that becomes 566.2 MB instead of 64.8 GB. This 114-times reduction is the clearest evidence that parameter-efficient federated LLM fine-tuning is practical from a communication perspective.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a70546704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da70546704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compares the experimental knobs directly. First, non-IID data is the main source of fairness degradation. Second, increasing the client fraction helps because the server sees a more representative sample of the heterogeneous data. Third, adding more rounds improves optimization but shows diminishing returns for generalization, while increasing communication cost significantly. These are the main design tradeoffs that emerged from the study.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a70546704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da70546704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main practical takeaway is that LoRA and QLoRA shift the bottleneck away from communication and toward client-side compute. Even though communication is much more manageable, each client still needs enough memory and compute to load the quantized base model and train adapters. The main limitations are dataset size, number of rounds, and the strictness of token accuracy. Future work should explore more robust aggregation methods, personalized adapters, larger datasets, and richer evaluation metrics.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a70546704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da70546704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Federated Fine-Tuning of Large Language Models via LoRA Adapters: A Flower-Based Simulation Study</a:t>
            </a:r>
            <a:endParaRPr/>
          </a:p>
        </p:txBody>
      </p:sp>
      <p:sp>
        <p:nvSpPr>
          <p:cNvPr id="87" name="Google Shape;87;p13"/>
          <p:cNvSpPr txBox="1"/>
          <p:nvPr>
            <p:ph idx="1" type="subTitle"/>
          </p:nvPr>
        </p:nvSpPr>
        <p:spPr>
          <a:xfrm>
            <a:off x="727952" y="413055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Team 16: Krish Patel and Ayush Patel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 and Problem Statement</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rgbClr val="000000"/>
              </a:buClr>
              <a:buSzPts val="1500"/>
              <a:buFont typeface="Raleway"/>
              <a:buChar char="●"/>
            </a:pPr>
            <a:r>
              <a:rPr lang="en" sz="1500">
                <a:solidFill>
                  <a:srgbClr val="000000"/>
                </a:solidFill>
                <a:latin typeface="Raleway"/>
                <a:ea typeface="Raleway"/>
                <a:cs typeface="Raleway"/>
                <a:sym typeface="Raleway"/>
              </a:rPr>
              <a:t>Fine-tuning LLMs usually requires centralizing sensitive domain data</a:t>
            </a:r>
            <a:endParaRPr sz="15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ts val="1500"/>
              <a:buFont typeface="Raleway"/>
              <a:buChar char="●"/>
            </a:pPr>
            <a:r>
              <a:rPr lang="en" sz="1500">
                <a:solidFill>
                  <a:srgbClr val="000000"/>
                </a:solidFill>
                <a:latin typeface="Raleway"/>
                <a:ea typeface="Raleway"/>
                <a:cs typeface="Raleway"/>
                <a:sym typeface="Raleway"/>
              </a:rPr>
              <a:t>In healthcare, finance, and legal settings, data sharing is restricted</a:t>
            </a:r>
            <a:endParaRPr sz="15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ts val="1500"/>
              <a:buFont typeface="Raleway"/>
              <a:buChar char="●"/>
            </a:pPr>
            <a:r>
              <a:rPr lang="en" sz="1500">
                <a:solidFill>
                  <a:srgbClr val="000000"/>
                </a:solidFill>
                <a:latin typeface="Raleway"/>
                <a:ea typeface="Raleway"/>
                <a:cs typeface="Raleway"/>
                <a:sym typeface="Raleway"/>
              </a:rPr>
              <a:t>Federated learning solves this by keeping data local</a:t>
            </a:r>
            <a:endParaRPr sz="15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ts val="1500"/>
              <a:buFont typeface="Raleway"/>
              <a:buChar char="●"/>
            </a:pPr>
            <a:r>
              <a:rPr lang="en" sz="1500">
                <a:solidFill>
                  <a:srgbClr val="000000"/>
                </a:solidFill>
                <a:latin typeface="Raleway"/>
                <a:ea typeface="Raleway"/>
                <a:cs typeface="Raleway"/>
                <a:sym typeface="Raleway"/>
              </a:rPr>
              <a:t>But direct FL on LLMs is difficult because:</a:t>
            </a:r>
            <a:endParaRPr sz="1500">
              <a:solidFill>
                <a:srgbClr val="000000"/>
              </a:solidFill>
              <a:latin typeface="Raleway"/>
              <a:ea typeface="Raleway"/>
              <a:cs typeface="Raleway"/>
              <a:sym typeface="Raleway"/>
            </a:endParaRPr>
          </a:p>
          <a:p>
            <a:pPr indent="-323850" lvl="1" marL="914400" rtl="0" algn="l">
              <a:spcBef>
                <a:spcPts val="0"/>
              </a:spcBef>
              <a:spcAft>
                <a:spcPts val="0"/>
              </a:spcAft>
              <a:buClr>
                <a:srgbClr val="000000"/>
              </a:buClr>
              <a:buSzPts val="1500"/>
              <a:buFont typeface="Raleway"/>
              <a:buChar char="○"/>
            </a:pPr>
            <a:r>
              <a:rPr lang="en" sz="1500">
                <a:solidFill>
                  <a:srgbClr val="000000"/>
                </a:solidFill>
                <a:latin typeface="Raleway"/>
                <a:ea typeface="Raleway"/>
                <a:cs typeface="Raleway"/>
                <a:sym typeface="Raleway"/>
              </a:rPr>
              <a:t>full-model communication is too expensive</a:t>
            </a:r>
            <a:endParaRPr sz="1500">
              <a:solidFill>
                <a:srgbClr val="000000"/>
              </a:solidFill>
              <a:latin typeface="Raleway"/>
              <a:ea typeface="Raleway"/>
              <a:cs typeface="Raleway"/>
              <a:sym typeface="Raleway"/>
            </a:endParaRPr>
          </a:p>
          <a:p>
            <a:pPr indent="-323850" lvl="1" marL="914400" rtl="0" algn="l">
              <a:spcBef>
                <a:spcPts val="0"/>
              </a:spcBef>
              <a:spcAft>
                <a:spcPts val="0"/>
              </a:spcAft>
              <a:buClr>
                <a:srgbClr val="000000"/>
              </a:buClr>
              <a:buSzPts val="1500"/>
              <a:buFont typeface="Raleway"/>
              <a:buChar char="○"/>
            </a:pPr>
            <a:r>
              <a:rPr lang="en" sz="1500">
                <a:solidFill>
                  <a:srgbClr val="000000"/>
                </a:solidFill>
                <a:latin typeface="Raleway"/>
                <a:ea typeface="Raleway"/>
                <a:cs typeface="Raleway"/>
                <a:sym typeface="Raleway"/>
              </a:rPr>
              <a:t>full-model fine-tuning is too memory intensive</a:t>
            </a:r>
            <a:endParaRPr sz="15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Raleway"/>
                <a:ea typeface="Raleway"/>
                <a:cs typeface="Raleway"/>
                <a:sym typeface="Raleway"/>
              </a:rPr>
              <a:t>Our question: can </a:t>
            </a:r>
            <a:r>
              <a:rPr b="1" lang="en" sz="1500">
                <a:solidFill>
                  <a:srgbClr val="000000"/>
                </a:solidFill>
                <a:latin typeface="Raleway"/>
                <a:ea typeface="Raleway"/>
                <a:cs typeface="Raleway"/>
                <a:sym typeface="Raleway"/>
              </a:rPr>
              <a:t>LoRA + QLoRA + Flower</a:t>
            </a:r>
            <a:r>
              <a:rPr lang="en" sz="1500">
                <a:solidFill>
                  <a:srgbClr val="000000"/>
                </a:solidFill>
                <a:latin typeface="Raleway"/>
                <a:ea typeface="Raleway"/>
                <a:cs typeface="Raleway"/>
                <a:sym typeface="Raleway"/>
              </a:rPr>
              <a:t> make federated LLM fine-tuning practical?</a:t>
            </a:r>
            <a:endParaRPr sz="1500">
              <a:solidFill>
                <a:srgbClr val="000000"/>
              </a:solidFill>
              <a:latin typeface="Raleway"/>
              <a:ea typeface="Raleway"/>
              <a:cs typeface="Raleway"/>
              <a:sym typeface="Raleway"/>
            </a:endParaRPr>
          </a:p>
          <a:p>
            <a:pPr indent="0" lvl="0" marL="0" rtl="0" algn="l">
              <a:spcBef>
                <a:spcPts val="0"/>
              </a:spcBef>
              <a:spcAft>
                <a:spcPts val="1200"/>
              </a:spcAft>
              <a:buNone/>
            </a:pPr>
            <a:r>
              <a:t/>
            </a:r>
            <a:endParaRPr sz="1500">
              <a:latin typeface="Raleway"/>
              <a:ea typeface="Raleway"/>
              <a:cs typeface="Raleway"/>
              <a:sym typeface="Ralew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827900" y="6049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Objectives</a:t>
            </a:r>
            <a:endParaRPr/>
          </a:p>
        </p:txBody>
      </p:sp>
      <p:sp>
        <p:nvSpPr>
          <p:cNvPr id="99" name="Google Shape;99;p15"/>
          <p:cNvSpPr txBox="1"/>
          <p:nvPr>
            <p:ph idx="1" type="body"/>
          </p:nvPr>
        </p:nvSpPr>
        <p:spPr>
          <a:xfrm>
            <a:off x="727650" y="1427375"/>
            <a:ext cx="7788900" cy="3420900"/>
          </a:xfrm>
          <a:prstGeom prst="rect">
            <a:avLst/>
          </a:prstGeom>
        </p:spPr>
        <p:txBody>
          <a:bodyPr anchorCtr="0" anchor="t" bIns="91425" lIns="91425" spcFirstLastPara="1" rIns="91425" wrap="square" tIns="91425">
            <a:noAutofit/>
          </a:bodyPr>
          <a:lstStyle/>
          <a:p>
            <a:pPr indent="-325437" lvl="0" marL="457200" rtl="0" algn="l">
              <a:lnSpc>
                <a:spcPct val="95000"/>
              </a:lnSpc>
              <a:spcBef>
                <a:spcPts val="0"/>
              </a:spcBef>
              <a:spcAft>
                <a:spcPts val="0"/>
              </a:spcAft>
              <a:buSzPts val="1525"/>
              <a:buFont typeface="Raleway"/>
              <a:buAutoNum type="arabicPeriod"/>
            </a:pPr>
            <a:r>
              <a:rPr lang="en" sz="1525">
                <a:latin typeface="Raleway"/>
                <a:ea typeface="Raleway"/>
                <a:cs typeface="Raleway"/>
                <a:sym typeface="Raleway"/>
              </a:rPr>
              <a:t>Build a reproducible federated fine-tuning pipeline for an LLM</a:t>
            </a:r>
            <a:endParaRPr sz="1525">
              <a:latin typeface="Raleway"/>
              <a:ea typeface="Raleway"/>
              <a:cs typeface="Raleway"/>
              <a:sym typeface="Raleway"/>
            </a:endParaRPr>
          </a:p>
          <a:p>
            <a:pPr indent="-325437" lvl="0" marL="457200" rtl="0" algn="l">
              <a:lnSpc>
                <a:spcPct val="95000"/>
              </a:lnSpc>
              <a:spcBef>
                <a:spcPts val="0"/>
              </a:spcBef>
              <a:spcAft>
                <a:spcPts val="0"/>
              </a:spcAft>
              <a:buSzPts val="1525"/>
              <a:buFont typeface="Raleway"/>
              <a:buAutoNum type="arabicPeriod"/>
            </a:pPr>
            <a:r>
              <a:rPr lang="en" sz="1525">
                <a:latin typeface="Raleway"/>
                <a:ea typeface="Raleway"/>
                <a:cs typeface="Raleway"/>
                <a:sym typeface="Raleway"/>
              </a:rPr>
              <a:t>Use adapter-based tuning instead of full-model updates</a:t>
            </a:r>
            <a:endParaRPr sz="1525">
              <a:latin typeface="Raleway"/>
              <a:ea typeface="Raleway"/>
              <a:cs typeface="Raleway"/>
              <a:sym typeface="Raleway"/>
            </a:endParaRPr>
          </a:p>
          <a:p>
            <a:pPr indent="-325437" lvl="0" marL="457200" rtl="0" algn="l">
              <a:lnSpc>
                <a:spcPct val="95000"/>
              </a:lnSpc>
              <a:spcBef>
                <a:spcPts val="0"/>
              </a:spcBef>
              <a:spcAft>
                <a:spcPts val="0"/>
              </a:spcAft>
              <a:buSzPts val="1525"/>
              <a:buFont typeface="Raleway"/>
              <a:buAutoNum type="arabicPeriod"/>
            </a:pPr>
            <a:r>
              <a:rPr lang="en" sz="1525">
                <a:latin typeface="Raleway"/>
                <a:ea typeface="Raleway"/>
                <a:cs typeface="Raleway"/>
                <a:sym typeface="Raleway"/>
              </a:rPr>
              <a:t>Measure:</a:t>
            </a:r>
            <a:endParaRPr sz="1525">
              <a:latin typeface="Raleway"/>
              <a:ea typeface="Raleway"/>
              <a:cs typeface="Raleway"/>
              <a:sym typeface="Raleway"/>
            </a:endParaRPr>
          </a:p>
          <a:p>
            <a:pPr indent="-298450" lvl="0" marL="914400" rtl="0" algn="l">
              <a:spcBef>
                <a:spcPts val="0"/>
              </a:spcBef>
              <a:spcAft>
                <a:spcPts val="0"/>
              </a:spcAft>
              <a:buClr>
                <a:srgbClr val="000000"/>
              </a:buClr>
              <a:buSzPts val="1100"/>
              <a:buFont typeface="Arial"/>
              <a:buChar char="●"/>
            </a:pPr>
            <a:r>
              <a:rPr lang="en" sz="1525">
                <a:latin typeface="Raleway"/>
                <a:ea typeface="Raleway"/>
                <a:cs typeface="Raleway"/>
                <a:sym typeface="Raleway"/>
              </a:rPr>
              <a:t>convergence behavior</a:t>
            </a:r>
            <a:endParaRPr sz="1525">
              <a:latin typeface="Raleway"/>
              <a:ea typeface="Raleway"/>
              <a:cs typeface="Raleway"/>
              <a:sym typeface="Raleway"/>
            </a:endParaRPr>
          </a:p>
          <a:p>
            <a:pPr indent="-298450" lvl="0" marL="914400" rtl="0" algn="l">
              <a:spcBef>
                <a:spcPts val="0"/>
              </a:spcBef>
              <a:spcAft>
                <a:spcPts val="0"/>
              </a:spcAft>
              <a:buClr>
                <a:srgbClr val="000000"/>
              </a:buClr>
              <a:buSzPts val="1100"/>
              <a:buFont typeface="Arial"/>
              <a:buChar char="●"/>
            </a:pPr>
            <a:r>
              <a:rPr lang="en" sz="1525">
                <a:latin typeface="Raleway"/>
                <a:ea typeface="Raleway"/>
                <a:cs typeface="Raleway"/>
                <a:sym typeface="Raleway"/>
              </a:rPr>
              <a:t>fairness across clients</a:t>
            </a:r>
            <a:endParaRPr sz="1525">
              <a:latin typeface="Raleway"/>
              <a:ea typeface="Raleway"/>
              <a:cs typeface="Raleway"/>
              <a:sym typeface="Raleway"/>
            </a:endParaRPr>
          </a:p>
          <a:p>
            <a:pPr indent="-298450" lvl="0" marL="914400" rtl="0" algn="l">
              <a:spcBef>
                <a:spcPts val="0"/>
              </a:spcBef>
              <a:spcAft>
                <a:spcPts val="0"/>
              </a:spcAft>
              <a:buClr>
                <a:srgbClr val="000000"/>
              </a:buClr>
              <a:buSzPts val="1100"/>
              <a:buFont typeface="Arial"/>
              <a:buChar char="●"/>
            </a:pPr>
            <a:r>
              <a:rPr lang="en" sz="1525">
                <a:latin typeface="Raleway"/>
                <a:ea typeface="Raleway"/>
                <a:cs typeface="Raleway"/>
                <a:sym typeface="Raleway"/>
              </a:rPr>
              <a:t>communication cost</a:t>
            </a:r>
            <a:endParaRPr sz="1525">
              <a:latin typeface="Raleway"/>
              <a:ea typeface="Raleway"/>
              <a:cs typeface="Raleway"/>
              <a:sym typeface="Raleway"/>
            </a:endParaRPr>
          </a:p>
          <a:p>
            <a:pPr indent="-298450" lvl="0" marL="914400" rtl="0" algn="l">
              <a:spcBef>
                <a:spcPts val="0"/>
              </a:spcBef>
              <a:spcAft>
                <a:spcPts val="0"/>
              </a:spcAft>
              <a:buClr>
                <a:srgbClr val="000000"/>
              </a:buClr>
              <a:buSzPts val="1100"/>
              <a:buFont typeface="Arial"/>
              <a:buChar char="●"/>
            </a:pPr>
            <a:r>
              <a:rPr lang="en" sz="1525">
                <a:latin typeface="Raleway"/>
                <a:ea typeface="Raleway"/>
                <a:cs typeface="Raleway"/>
                <a:sym typeface="Raleway"/>
              </a:rPr>
              <a:t>token-level performance</a:t>
            </a:r>
            <a:endParaRPr sz="1525">
              <a:latin typeface="Raleway"/>
              <a:ea typeface="Raleway"/>
              <a:cs typeface="Raleway"/>
              <a:sym typeface="Raleway"/>
            </a:endParaRPr>
          </a:p>
          <a:p>
            <a:pPr indent="-325437" lvl="0" marL="457200" rtl="0" algn="l">
              <a:spcBef>
                <a:spcPts val="0"/>
              </a:spcBef>
              <a:spcAft>
                <a:spcPts val="0"/>
              </a:spcAft>
              <a:buSzPts val="1525"/>
              <a:buFont typeface="Raleway"/>
              <a:buAutoNum type="arabicPeriod"/>
            </a:pPr>
            <a:r>
              <a:rPr lang="en" sz="1525">
                <a:latin typeface="Raleway"/>
                <a:ea typeface="Raleway"/>
                <a:cs typeface="Raleway"/>
                <a:sym typeface="Raleway"/>
              </a:rPr>
              <a:t>Compare four settings:</a:t>
            </a:r>
            <a:endParaRPr sz="1525">
              <a:latin typeface="Raleway"/>
              <a:ea typeface="Raleway"/>
              <a:cs typeface="Raleway"/>
              <a:sym typeface="Raleway"/>
            </a:endParaRPr>
          </a:p>
          <a:p>
            <a:pPr indent="-298450" lvl="0" marL="914400" rtl="0" algn="l">
              <a:spcBef>
                <a:spcPts val="0"/>
              </a:spcBef>
              <a:spcAft>
                <a:spcPts val="0"/>
              </a:spcAft>
              <a:buClr>
                <a:srgbClr val="000000"/>
              </a:buClr>
              <a:buSzPts val="1100"/>
              <a:buFont typeface="Arial"/>
              <a:buChar char="●"/>
            </a:pPr>
            <a:r>
              <a:rPr lang="en" sz="1525">
                <a:latin typeface="Raleway"/>
                <a:ea typeface="Raleway"/>
                <a:cs typeface="Raleway"/>
                <a:sym typeface="Raleway"/>
              </a:rPr>
              <a:t>IID baseline</a:t>
            </a:r>
            <a:endParaRPr sz="1525">
              <a:latin typeface="Raleway"/>
              <a:ea typeface="Raleway"/>
              <a:cs typeface="Raleway"/>
              <a:sym typeface="Raleway"/>
            </a:endParaRPr>
          </a:p>
          <a:p>
            <a:pPr indent="-298450" lvl="0" marL="914400" rtl="0" algn="l">
              <a:spcBef>
                <a:spcPts val="0"/>
              </a:spcBef>
              <a:spcAft>
                <a:spcPts val="0"/>
              </a:spcAft>
              <a:buClr>
                <a:srgbClr val="000000"/>
              </a:buClr>
              <a:buSzPts val="1100"/>
              <a:buFont typeface="Arial"/>
              <a:buChar char="●"/>
            </a:pPr>
            <a:r>
              <a:rPr lang="en" sz="1525">
                <a:latin typeface="Raleway"/>
                <a:ea typeface="Raleway"/>
                <a:cs typeface="Raleway"/>
                <a:sym typeface="Raleway"/>
              </a:rPr>
              <a:t>non-IID baseline</a:t>
            </a:r>
            <a:endParaRPr sz="1525">
              <a:latin typeface="Raleway"/>
              <a:ea typeface="Raleway"/>
              <a:cs typeface="Raleway"/>
              <a:sym typeface="Raleway"/>
            </a:endParaRPr>
          </a:p>
          <a:p>
            <a:pPr indent="-298450" lvl="0" marL="914400" rtl="0" algn="l">
              <a:spcBef>
                <a:spcPts val="0"/>
              </a:spcBef>
              <a:spcAft>
                <a:spcPts val="0"/>
              </a:spcAft>
              <a:buClr>
                <a:srgbClr val="000000"/>
              </a:buClr>
              <a:buSzPts val="1100"/>
              <a:buFont typeface="Arial"/>
              <a:buChar char="●"/>
            </a:pPr>
            <a:r>
              <a:rPr lang="en" sz="1525">
                <a:latin typeface="Raleway"/>
                <a:ea typeface="Raleway"/>
                <a:cs typeface="Raleway"/>
                <a:sym typeface="Raleway"/>
              </a:rPr>
              <a:t>higher client fraction</a:t>
            </a:r>
            <a:endParaRPr sz="1525">
              <a:latin typeface="Raleway"/>
              <a:ea typeface="Raleway"/>
              <a:cs typeface="Raleway"/>
              <a:sym typeface="Raleway"/>
            </a:endParaRPr>
          </a:p>
          <a:p>
            <a:pPr indent="-298450" lvl="0" marL="914400" rtl="0" algn="l">
              <a:spcBef>
                <a:spcPts val="0"/>
              </a:spcBef>
              <a:spcAft>
                <a:spcPts val="0"/>
              </a:spcAft>
              <a:buClr>
                <a:srgbClr val="000000"/>
              </a:buClr>
              <a:buSzPts val="1100"/>
              <a:buFont typeface="Arial"/>
              <a:buChar char="●"/>
            </a:pPr>
            <a:r>
              <a:rPr lang="en" sz="1525">
                <a:latin typeface="Raleway"/>
                <a:ea typeface="Raleway"/>
                <a:cs typeface="Raleway"/>
                <a:sym typeface="Raleway"/>
              </a:rPr>
              <a:t>more rounds</a:t>
            </a:r>
            <a:endParaRPr sz="1525">
              <a:latin typeface="Raleway"/>
              <a:ea typeface="Raleway"/>
              <a:cs typeface="Raleway"/>
              <a:sym typeface="Raleway"/>
            </a:endParaRPr>
          </a:p>
          <a:p>
            <a:pPr indent="0" lvl="0" marL="0" rtl="0" algn="l">
              <a:lnSpc>
                <a:spcPct val="95000"/>
              </a:lnSpc>
              <a:spcBef>
                <a:spcPts val="1200"/>
              </a:spcBef>
              <a:spcAft>
                <a:spcPts val="1200"/>
              </a:spcAft>
              <a:buSzPts val="275"/>
              <a:buNone/>
            </a:pPr>
            <a:r>
              <a:t/>
            </a:r>
            <a:endParaRPr sz="1225">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 Federated Learning</a:t>
            </a:r>
            <a:endParaRPr/>
          </a:p>
        </p:txBody>
      </p:sp>
      <p:sp>
        <p:nvSpPr>
          <p:cNvPr id="105" name="Google Shape;105;p16"/>
          <p:cNvSpPr txBox="1"/>
          <p:nvPr>
            <p:ph idx="1" type="body"/>
          </p:nvPr>
        </p:nvSpPr>
        <p:spPr>
          <a:xfrm>
            <a:off x="729450" y="2078875"/>
            <a:ext cx="7688700" cy="26892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Raleway"/>
              <a:buChar char="●"/>
            </a:pPr>
            <a:r>
              <a:rPr lang="en" sz="1500">
                <a:solidFill>
                  <a:srgbClr val="000000"/>
                </a:solidFill>
                <a:latin typeface="Raleway"/>
                <a:ea typeface="Raleway"/>
                <a:cs typeface="Raleway"/>
                <a:sym typeface="Raleway"/>
              </a:rPr>
              <a:t>Central server + multiple clients</a:t>
            </a:r>
            <a:endParaRPr sz="15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ts val="1500"/>
              <a:buFont typeface="Raleway"/>
              <a:buChar char="●"/>
            </a:pPr>
            <a:r>
              <a:rPr lang="en" sz="1500">
                <a:solidFill>
                  <a:srgbClr val="000000"/>
                </a:solidFill>
                <a:latin typeface="Raleway"/>
                <a:ea typeface="Raleway"/>
                <a:cs typeface="Raleway"/>
                <a:sym typeface="Raleway"/>
              </a:rPr>
              <a:t>Each client trains locally on private data</a:t>
            </a:r>
            <a:endParaRPr sz="15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ts val="1500"/>
              <a:buFont typeface="Raleway"/>
              <a:buChar char="●"/>
            </a:pPr>
            <a:r>
              <a:rPr lang="en" sz="1500">
                <a:solidFill>
                  <a:srgbClr val="000000"/>
                </a:solidFill>
                <a:latin typeface="Raleway"/>
                <a:ea typeface="Raleway"/>
                <a:cs typeface="Raleway"/>
                <a:sym typeface="Raleway"/>
              </a:rPr>
              <a:t>Clients send updates, not raw examples</a:t>
            </a:r>
            <a:endParaRPr sz="15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ts val="1500"/>
              <a:buFont typeface="Raleway"/>
              <a:buChar char="●"/>
            </a:pPr>
            <a:r>
              <a:rPr lang="en" sz="1500">
                <a:solidFill>
                  <a:srgbClr val="000000"/>
                </a:solidFill>
                <a:latin typeface="Raleway"/>
                <a:ea typeface="Raleway"/>
                <a:cs typeface="Raleway"/>
                <a:sym typeface="Raleway"/>
              </a:rPr>
              <a:t>Server aggregates updates using </a:t>
            </a:r>
            <a:r>
              <a:rPr b="1" lang="en" sz="1500">
                <a:solidFill>
                  <a:srgbClr val="000000"/>
                </a:solidFill>
                <a:latin typeface="Raleway"/>
                <a:ea typeface="Raleway"/>
                <a:cs typeface="Raleway"/>
                <a:sym typeface="Raleway"/>
              </a:rPr>
              <a:t>FedAvg</a:t>
            </a:r>
            <a:endParaRPr b="1" sz="15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ts val="1500"/>
              <a:buFont typeface="Raleway"/>
              <a:buChar char="●"/>
            </a:pPr>
            <a:r>
              <a:rPr lang="en" sz="1500">
                <a:solidFill>
                  <a:srgbClr val="000000"/>
                </a:solidFill>
                <a:latin typeface="Raleway"/>
                <a:ea typeface="Raleway"/>
                <a:cs typeface="Raleway"/>
                <a:sym typeface="Raleway"/>
              </a:rPr>
              <a:t>Standard round:</a:t>
            </a:r>
            <a:endParaRPr sz="1500">
              <a:solidFill>
                <a:srgbClr val="000000"/>
              </a:solidFill>
              <a:latin typeface="Raleway"/>
              <a:ea typeface="Raleway"/>
              <a:cs typeface="Raleway"/>
              <a:sym typeface="Raleway"/>
            </a:endParaRPr>
          </a:p>
          <a:p>
            <a:pPr indent="-323850" lvl="0" marL="914400" rtl="0" algn="l">
              <a:spcBef>
                <a:spcPts val="0"/>
              </a:spcBef>
              <a:spcAft>
                <a:spcPts val="0"/>
              </a:spcAft>
              <a:buClr>
                <a:srgbClr val="000000"/>
              </a:buClr>
              <a:buSzPts val="1500"/>
              <a:buFont typeface="Raleway"/>
              <a:buAutoNum type="arabicPeriod"/>
            </a:pPr>
            <a:r>
              <a:rPr lang="en" sz="1500">
                <a:solidFill>
                  <a:srgbClr val="000000"/>
                </a:solidFill>
                <a:latin typeface="Raleway"/>
                <a:ea typeface="Raleway"/>
                <a:cs typeface="Raleway"/>
                <a:sym typeface="Raleway"/>
              </a:rPr>
              <a:t>server broadcasts current parameters</a:t>
            </a:r>
            <a:endParaRPr sz="1500">
              <a:solidFill>
                <a:srgbClr val="000000"/>
              </a:solidFill>
              <a:latin typeface="Raleway"/>
              <a:ea typeface="Raleway"/>
              <a:cs typeface="Raleway"/>
              <a:sym typeface="Raleway"/>
            </a:endParaRPr>
          </a:p>
          <a:p>
            <a:pPr indent="-323850" lvl="0" marL="914400" rtl="0" algn="l">
              <a:spcBef>
                <a:spcPts val="0"/>
              </a:spcBef>
              <a:spcAft>
                <a:spcPts val="0"/>
              </a:spcAft>
              <a:buClr>
                <a:srgbClr val="000000"/>
              </a:buClr>
              <a:buSzPts val="1500"/>
              <a:buFont typeface="Raleway"/>
              <a:buAutoNum type="arabicPeriod"/>
            </a:pPr>
            <a:r>
              <a:rPr lang="en" sz="1500">
                <a:solidFill>
                  <a:srgbClr val="000000"/>
                </a:solidFill>
                <a:latin typeface="Raleway"/>
                <a:ea typeface="Raleway"/>
                <a:cs typeface="Raleway"/>
                <a:sym typeface="Raleway"/>
              </a:rPr>
              <a:t>selected clients train locally</a:t>
            </a:r>
            <a:endParaRPr sz="1500">
              <a:solidFill>
                <a:srgbClr val="000000"/>
              </a:solidFill>
              <a:latin typeface="Raleway"/>
              <a:ea typeface="Raleway"/>
              <a:cs typeface="Raleway"/>
              <a:sym typeface="Raleway"/>
            </a:endParaRPr>
          </a:p>
          <a:p>
            <a:pPr indent="-323850" lvl="0" marL="914400" rtl="0" algn="l">
              <a:spcBef>
                <a:spcPts val="0"/>
              </a:spcBef>
              <a:spcAft>
                <a:spcPts val="0"/>
              </a:spcAft>
              <a:buClr>
                <a:srgbClr val="000000"/>
              </a:buClr>
              <a:buSzPts val="1500"/>
              <a:buFont typeface="Raleway"/>
              <a:buAutoNum type="arabicPeriod"/>
            </a:pPr>
            <a:r>
              <a:rPr lang="en" sz="1500">
                <a:solidFill>
                  <a:srgbClr val="000000"/>
                </a:solidFill>
                <a:latin typeface="Raleway"/>
                <a:ea typeface="Raleway"/>
                <a:cs typeface="Raleway"/>
                <a:sym typeface="Raleway"/>
              </a:rPr>
              <a:t>server aggregates updates</a:t>
            </a:r>
            <a:endParaRPr sz="1500">
              <a:solidFill>
                <a:srgbClr val="000000"/>
              </a:solidFill>
              <a:latin typeface="Raleway"/>
              <a:ea typeface="Raleway"/>
              <a:cs typeface="Raleway"/>
              <a:sym typeface="Raleway"/>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 Why LoRA and QLoRA</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25000" lnSpcReduction="10000"/>
          </a:bodyPr>
          <a:lstStyle/>
          <a:p>
            <a:pPr indent="-325892" lvl="0" marL="457200" rtl="0" algn="l">
              <a:spcBef>
                <a:spcPts val="0"/>
              </a:spcBef>
              <a:spcAft>
                <a:spcPts val="0"/>
              </a:spcAft>
              <a:buSzPct val="100000"/>
              <a:buFont typeface="Raleway"/>
              <a:buChar char="●"/>
            </a:pPr>
            <a:r>
              <a:rPr lang="en" sz="6128">
                <a:latin typeface="Raleway"/>
                <a:ea typeface="Raleway"/>
                <a:cs typeface="Raleway"/>
                <a:sym typeface="Raleway"/>
              </a:rPr>
              <a:t>LoRA freezes the pretrained model and trains low-rank adapter matrices</a:t>
            </a:r>
            <a:endParaRPr sz="6128">
              <a:latin typeface="Raleway"/>
              <a:ea typeface="Raleway"/>
              <a:cs typeface="Raleway"/>
              <a:sym typeface="Raleway"/>
            </a:endParaRPr>
          </a:p>
          <a:p>
            <a:pPr indent="-325892" lvl="0" marL="457200" rtl="0" algn="l">
              <a:spcBef>
                <a:spcPts val="0"/>
              </a:spcBef>
              <a:spcAft>
                <a:spcPts val="0"/>
              </a:spcAft>
              <a:buSzPct val="100000"/>
              <a:buFont typeface="Raleway"/>
              <a:buChar char="●"/>
            </a:pPr>
            <a:r>
              <a:rPr lang="en" sz="6128">
                <a:latin typeface="Raleway"/>
                <a:ea typeface="Raleway"/>
                <a:cs typeface="Raleway"/>
                <a:sym typeface="Raleway"/>
              </a:rPr>
              <a:t>Instead of updating full weight matrix </a:t>
            </a:r>
            <a:r>
              <a:rPr lang="en" sz="6128">
                <a:latin typeface="Raleway"/>
                <a:ea typeface="Raleway"/>
                <a:cs typeface="Raleway"/>
                <a:sym typeface="Raleway"/>
              </a:rPr>
              <a:t>𝑊 </a:t>
            </a:r>
            <a:r>
              <a:rPr lang="en" sz="6128">
                <a:latin typeface="Raleway"/>
                <a:ea typeface="Raleway"/>
                <a:cs typeface="Raleway"/>
                <a:sym typeface="Raleway"/>
              </a:rPr>
              <a:t>LoRA learns a low-rank update</a:t>
            </a:r>
            <a:endParaRPr sz="6128">
              <a:latin typeface="Raleway"/>
              <a:ea typeface="Raleway"/>
              <a:cs typeface="Raleway"/>
              <a:sym typeface="Raleway"/>
            </a:endParaRPr>
          </a:p>
          <a:p>
            <a:pPr indent="-325892" lvl="0" marL="457200" rtl="0" algn="l">
              <a:spcBef>
                <a:spcPts val="0"/>
              </a:spcBef>
              <a:spcAft>
                <a:spcPts val="0"/>
              </a:spcAft>
              <a:buSzPct val="100000"/>
              <a:buFont typeface="Raleway"/>
              <a:buChar char="●"/>
            </a:pPr>
            <a:r>
              <a:rPr lang="en" sz="6128">
                <a:latin typeface="Raleway"/>
                <a:ea typeface="Raleway"/>
                <a:cs typeface="Raleway"/>
                <a:sym typeface="Raleway"/>
              </a:rPr>
              <a:t>Benefits:</a:t>
            </a:r>
            <a:endParaRPr sz="6128">
              <a:latin typeface="Raleway"/>
              <a:ea typeface="Raleway"/>
              <a:cs typeface="Raleway"/>
              <a:sym typeface="Raleway"/>
            </a:endParaRPr>
          </a:p>
          <a:p>
            <a:pPr indent="-325892" lvl="1" marL="914400" rtl="0" algn="l">
              <a:spcBef>
                <a:spcPts val="0"/>
              </a:spcBef>
              <a:spcAft>
                <a:spcPts val="0"/>
              </a:spcAft>
              <a:buSzPct val="100000"/>
              <a:buFont typeface="Raleway"/>
              <a:buChar char="○"/>
            </a:pPr>
            <a:r>
              <a:rPr lang="en" sz="6128">
                <a:latin typeface="Raleway"/>
                <a:ea typeface="Raleway"/>
                <a:cs typeface="Raleway"/>
                <a:sym typeface="Raleway"/>
              </a:rPr>
              <a:t>fewer trainable parameters</a:t>
            </a:r>
            <a:endParaRPr sz="6128">
              <a:latin typeface="Raleway"/>
              <a:ea typeface="Raleway"/>
              <a:cs typeface="Raleway"/>
              <a:sym typeface="Raleway"/>
            </a:endParaRPr>
          </a:p>
          <a:p>
            <a:pPr indent="-325892" lvl="1" marL="914400" rtl="0" algn="l">
              <a:spcBef>
                <a:spcPts val="0"/>
              </a:spcBef>
              <a:spcAft>
                <a:spcPts val="0"/>
              </a:spcAft>
              <a:buSzPct val="100000"/>
              <a:buFont typeface="Raleway"/>
              <a:buChar char="○"/>
            </a:pPr>
            <a:r>
              <a:rPr lang="en" sz="6128">
                <a:latin typeface="Raleway"/>
                <a:ea typeface="Raleway"/>
                <a:cs typeface="Raleway"/>
                <a:sym typeface="Raleway"/>
              </a:rPr>
              <a:t>lower communication</a:t>
            </a:r>
            <a:endParaRPr sz="6128">
              <a:latin typeface="Raleway"/>
              <a:ea typeface="Raleway"/>
              <a:cs typeface="Raleway"/>
              <a:sym typeface="Raleway"/>
            </a:endParaRPr>
          </a:p>
          <a:p>
            <a:pPr indent="-325892" lvl="1" marL="914400" rtl="0" algn="l">
              <a:spcBef>
                <a:spcPts val="0"/>
              </a:spcBef>
              <a:spcAft>
                <a:spcPts val="0"/>
              </a:spcAft>
              <a:buSzPct val="100000"/>
              <a:buFont typeface="Raleway"/>
              <a:buChar char="○"/>
            </a:pPr>
            <a:r>
              <a:rPr lang="en" sz="6128">
                <a:latin typeface="Raleway"/>
                <a:ea typeface="Raleway"/>
                <a:cs typeface="Raleway"/>
                <a:sym typeface="Raleway"/>
              </a:rPr>
              <a:t>lower memory use</a:t>
            </a:r>
            <a:endParaRPr sz="6128">
              <a:latin typeface="Raleway"/>
              <a:ea typeface="Raleway"/>
              <a:cs typeface="Raleway"/>
              <a:sym typeface="Raleway"/>
            </a:endParaRPr>
          </a:p>
          <a:p>
            <a:pPr indent="-325892" lvl="0" marL="457200" rtl="0" algn="l">
              <a:spcBef>
                <a:spcPts val="0"/>
              </a:spcBef>
              <a:spcAft>
                <a:spcPts val="0"/>
              </a:spcAft>
              <a:buSzPct val="100000"/>
              <a:buFont typeface="Raleway"/>
              <a:buChar char="●"/>
            </a:pPr>
            <a:r>
              <a:rPr lang="en" sz="6128">
                <a:latin typeface="Raleway"/>
                <a:ea typeface="Raleway"/>
                <a:cs typeface="Raleway"/>
                <a:sym typeface="Raleway"/>
              </a:rPr>
              <a:t>QLoRA adds 4-bit quantization to reduce base-model memory further</a:t>
            </a:r>
            <a:endParaRPr sz="6128">
              <a:latin typeface="Raleway"/>
              <a:ea typeface="Raleway"/>
              <a:cs typeface="Raleway"/>
              <a:sym typeface="Raleway"/>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Pipeline </a:t>
            </a:r>
            <a:endParaRPr/>
          </a:p>
        </p:txBody>
      </p:sp>
      <p:sp>
        <p:nvSpPr>
          <p:cNvPr id="117" name="Google Shape;117;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Dataset loaded and formatted into instruction-style prompts</a:t>
            </a:r>
            <a:endParaRPr sz="1500"/>
          </a:p>
          <a:p>
            <a:pPr indent="-323850" lvl="0" marL="457200" rtl="0" algn="l">
              <a:spcBef>
                <a:spcPts val="0"/>
              </a:spcBef>
              <a:spcAft>
                <a:spcPts val="0"/>
              </a:spcAft>
              <a:buSzPts val="1500"/>
              <a:buChar char="●"/>
            </a:pPr>
            <a:r>
              <a:rPr lang="en" sz="1500"/>
              <a:t>Data partitioned across 8 simulated clients</a:t>
            </a:r>
            <a:endParaRPr sz="1500"/>
          </a:p>
          <a:p>
            <a:pPr indent="-323850" lvl="0" marL="457200" rtl="0" algn="l">
              <a:spcBef>
                <a:spcPts val="0"/>
              </a:spcBef>
              <a:spcAft>
                <a:spcPts val="0"/>
              </a:spcAft>
              <a:buSzPts val="1500"/>
              <a:buChar char="●"/>
            </a:pPr>
            <a:r>
              <a:rPr lang="en" sz="1500"/>
              <a:t>Base model: Phi-2 loaded in 4-bit</a:t>
            </a:r>
            <a:endParaRPr sz="1500"/>
          </a:p>
          <a:p>
            <a:pPr indent="-323850" lvl="0" marL="457200" rtl="0" algn="l">
              <a:spcBef>
                <a:spcPts val="0"/>
              </a:spcBef>
              <a:spcAft>
                <a:spcPts val="0"/>
              </a:spcAft>
              <a:buSzPts val="1500"/>
              <a:buChar char="●"/>
            </a:pPr>
            <a:r>
              <a:rPr lang="en" sz="1500"/>
              <a:t>LoRA adapters attached to attention projections</a:t>
            </a:r>
            <a:endParaRPr sz="1500"/>
          </a:p>
          <a:p>
            <a:pPr indent="-323850" lvl="0" marL="457200" rtl="0" algn="l">
              <a:spcBef>
                <a:spcPts val="0"/>
              </a:spcBef>
              <a:spcAft>
                <a:spcPts val="0"/>
              </a:spcAft>
              <a:buSzPts val="1500"/>
              <a:buChar char="●"/>
            </a:pPr>
            <a:r>
              <a:rPr lang="en" sz="1500"/>
              <a:t>Flower simulation orchestrates rounds, client selection, and aggregation</a:t>
            </a:r>
            <a:endParaRPr sz="1500"/>
          </a:p>
          <a:p>
            <a:pPr indent="-323850" lvl="0" marL="457200" rtl="0" algn="l">
              <a:spcBef>
                <a:spcPts val="0"/>
              </a:spcBef>
              <a:spcAft>
                <a:spcPts val="0"/>
              </a:spcAft>
              <a:buSzPts val="1500"/>
              <a:buChar char="●"/>
            </a:pPr>
            <a:r>
              <a:rPr lang="en" sz="1500"/>
              <a:t>Only LoRA adapter weights are exchanged</a:t>
            </a:r>
            <a:endParaRPr sz="1500"/>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and Training Configuration</a:t>
            </a:r>
            <a:endParaRPr/>
          </a:p>
        </p:txBody>
      </p:sp>
      <p:sp>
        <p:nvSpPr>
          <p:cNvPr id="123" name="Google Shape;123;p19"/>
          <p:cNvSpPr txBox="1"/>
          <p:nvPr>
            <p:ph idx="1" type="body"/>
          </p:nvPr>
        </p:nvSpPr>
        <p:spPr>
          <a:xfrm>
            <a:off x="729450" y="1853850"/>
            <a:ext cx="8153100" cy="3064500"/>
          </a:xfrm>
          <a:prstGeom prst="rect">
            <a:avLst/>
          </a:prstGeom>
        </p:spPr>
        <p:txBody>
          <a:bodyPr anchorCtr="0" anchor="t" bIns="91425" lIns="91425" spcFirstLastPara="1" rIns="91425" wrap="square" tIns="91425">
            <a:normAutofit fontScale="25000" lnSpcReduction="20000"/>
          </a:bodyPr>
          <a:lstStyle/>
          <a:p>
            <a:pPr indent="-324765" lvl="0" marL="457200" rtl="0" algn="l">
              <a:spcBef>
                <a:spcPts val="0"/>
              </a:spcBef>
              <a:spcAft>
                <a:spcPts val="0"/>
              </a:spcAft>
              <a:buClr>
                <a:srgbClr val="000000"/>
              </a:buClr>
              <a:buSzPct val="100000"/>
              <a:buFont typeface="Raleway"/>
              <a:buChar char="●"/>
            </a:pPr>
            <a:r>
              <a:rPr lang="en" sz="6057">
                <a:solidFill>
                  <a:srgbClr val="000000"/>
                </a:solidFill>
                <a:latin typeface="Raleway"/>
                <a:ea typeface="Raleway"/>
                <a:cs typeface="Raleway"/>
                <a:sym typeface="Raleway"/>
              </a:rPr>
              <a:t>Base model: </a:t>
            </a:r>
            <a:r>
              <a:rPr b="1" lang="en" sz="6057">
                <a:solidFill>
                  <a:srgbClr val="000000"/>
                </a:solidFill>
                <a:latin typeface="Raleway"/>
                <a:ea typeface="Raleway"/>
                <a:cs typeface="Raleway"/>
                <a:sym typeface="Raleway"/>
              </a:rPr>
              <a:t>Microsoft Phi-2</a:t>
            </a:r>
            <a:endParaRPr b="1" sz="6057">
              <a:solidFill>
                <a:srgbClr val="000000"/>
              </a:solidFill>
              <a:latin typeface="Raleway"/>
              <a:ea typeface="Raleway"/>
              <a:cs typeface="Raleway"/>
              <a:sym typeface="Raleway"/>
            </a:endParaRPr>
          </a:p>
          <a:p>
            <a:pPr indent="-324765" lvl="0" marL="457200" rtl="0" algn="l">
              <a:spcBef>
                <a:spcPts val="0"/>
              </a:spcBef>
              <a:spcAft>
                <a:spcPts val="0"/>
              </a:spcAft>
              <a:buClr>
                <a:srgbClr val="000000"/>
              </a:buClr>
              <a:buSzPct val="100000"/>
              <a:buFont typeface="Raleway"/>
              <a:buChar char="●"/>
            </a:pPr>
            <a:r>
              <a:rPr lang="en" sz="6057">
                <a:solidFill>
                  <a:srgbClr val="000000"/>
                </a:solidFill>
                <a:latin typeface="Raleway"/>
                <a:ea typeface="Raleway"/>
                <a:cs typeface="Raleway"/>
                <a:sym typeface="Raleway"/>
              </a:rPr>
              <a:t>Model size: </a:t>
            </a:r>
            <a:r>
              <a:rPr b="1" lang="en" sz="6057">
                <a:solidFill>
                  <a:srgbClr val="000000"/>
                </a:solidFill>
                <a:latin typeface="Raleway"/>
                <a:ea typeface="Raleway"/>
                <a:cs typeface="Raleway"/>
                <a:sym typeface="Raleway"/>
              </a:rPr>
              <a:t>2.7B parameters</a:t>
            </a:r>
            <a:endParaRPr b="1" sz="6057">
              <a:solidFill>
                <a:srgbClr val="000000"/>
              </a:solidFill>
              <a:latin typeface="Raleway"/>
              <a:ea typeface="Raleway"/>
              <a:cs typeface="Raleway"/>
              <a:sym typeface="Raleway"/>
            </a:endParaRPr>
          </a:p>
          <a:p>
            <a:pPr indent="-324765" lvl="0" marL="457200" rtl="0" algn="l">
              <a:spcBef>
                <a:spcPts val="0"/>
              </a:spcBef>
              <a:spcAft>
                <a:spcPts val="0"/>
              </a:spcAft>
              <a:buClr>
                <a:srgbClr val="000000"/>
              </a:buClr>
              <a:buSzPct val="100000"/>
              <a:buFont typeface="Raleway"/>
              <a:buChar char="●"/>
            </a:pPr>
            <a:r>
              <a:rPr lang="en" sz="6057">
                <a:solidFill>
                  <a:srgbClr val="000000"/>
                </a:solidFill>
                <a:latin typeface="Raleway"/>
                <a:ea typeface="Raleway"/>
                <a:cs typeface="Raleway"/>
                <a:sym typeface="Raleway"/>
              </a:rPr>
              <a:t>LoRA settings:</a:t>
            </a:r>
            <a:endParaRPr sz="6057">
              <a:solidFill>
                <a:srgbClr val="000000"/>
              </a:solidFill>
              <a:latin typeface="Raleway"/>
              <a:ea typeface="Raleway"/>
              <a:cs typeface="Raleway"/>
              <a:sym typeface="Raleway"/>
            </a:endParaRPr>
          </a:p>
          <a:p>
            <a:pPr indent="-324765" lvl="1" marL="914400" rtl="0" algn="l">
              <a:spcBef>
                <a:spcPts val="0"/>
              </a:spcBef>
              <a:spcAft>
                <a:spcPts val="0"/>
              </a:spcAft>
              <a:buClr>
                <a:srgbClr val="000000"/>
              </a:buClr>
              <a:buSzPct val="100000"/>
              <a:buFont typeface="Raleway"/>
              <a:buChar char="○"/>
            </a:pPr>
            <a:r>
              <a:rPr lang="en" sz="6057">
                <a:solidFill>
                  <a:srgbClr val="000000"/>
                </a:solidFill>
                <a:latin typeface="Raleway"/>
                <a:ea typeface="Raleway"/>
                <a:cs typeface="Raleway"/>
                <a:sym typeface="Raleway"/>
              </a:rPr>
              <a:t>rank r=8r = 8r=8</a:t>
            </a:r>
            <a:endParaRPr sz="6057">
              <a:solidFill>
                <a:srgbClr val="000000"/>
              </a:solidFill>
              <a:latin typeface="Raleway"/>
              <a:ea typeface="Raleway"/>
              <a:cs typeface="Raleway"/>
              <a:sym typeface="Raleway"/>
            </a:endParaRPr>
          </a:p>
          <a:p>
            <a:pPr indent="-324765" lvl="1" marL="914400" rtl="0" algn="l">
              <a:spcBef>
                <a:spcPts val="0"/>
              </a:spcBef>
              <a:spcAft>
                <a:spcPts val="0"/>
              </a:spcAft>
              <a:buClr>
                <a:srgbClr val="000000"/>
              </a:buClr>
              <a:buSzPct val="100000"/>
              <a:buFont typeface="Raleway"/>
              <a:buChar char="○"/>
            </a:pPr>
            <a:r>
              <a:rPr lang="en" sz="6057">
                <a:solidFill>
                  <a:srgbClr val="000000"/>
                </a:solidFill>
                <a:latin typeface="Raleway"/>
                <a:ea typeface="Raleway"/>
                <a:cs typeface="Raleway"/>
                <a:sym typeface="Raleway"/>
              </a:rPr>
              <a:t>scaling factor α=16\alpha = 16α=16</a:t>
            </a:r>
            <a:endParaRPr sz="6057">
              <a:solidFill>
                <a:srgbClr val="000000"/>
              </a:solidFill>
              <a:latin typeface="Raleway"/>
              <a:ea typeface="Raleway"/>
              <a:cs typeface="Raleway"/>
              <a:sym typeface="Raleway"/>
            </a:endParaRPr>
          </a:p>
          <a:p>
            <a:pPr indent="-324765" lvl="1" marL="914400" rtl="0" algn="l">
              <a:spcBef>
                <a:spcPts val="0"/>
              </a:spcBef>
              <a:spcAft>
                <a:spcPts val="0"/>
              </a:spcAft>
              <a:buClr>
                <a:srgbClr val="000000"/>
              </a:buClr>
              <a:buSzPct val="100000"/>
              <a:buFont typeface="Raleway"/>
              <a:buChar char="○"/>
            </a:pPr>
            <a:r>
              <a:rPr lang="en" sz="6057">
                <a:solidFill>
                  <a:srgbClr val="000000"/>
                </a:solidFill>
                <a:latin typeface="Raleway"/>
                <a:ea typeface="Raleway"/>
                <a:cs typeface="Raleway"/>
                <a:sym typeface="Raleway"/>
              </a:rPr>
              <a:t>dropout = 0.05</a:t>
            </a:r>
            <a:endParaRPr sz="6057">
              <a:solidFill>
                <a:srgbClr val="000000"/>
              </a:solidFill>
              <a:latin typeface="Raleway"/>
              <a:ea typeface="Raleway"/>
              <a:cs typeface="Raleway"/>
              <a:sym typeface="Raleway"/>
            </a:endParaRPr>
          </a:p>
          <a:p>
            <a:pPr indent="-324765" lvl="1" marL="914400" rtl="0" algn="l">
              <a:spcBef>
                <a:spcPts val="0"/>
              </a:spcBef>
              <a:spcAft>
                <a:spcPts val="0"/>
              </a:spcAft>
              <a:buClr>
                <a:srgbClr val="000000"/>
              </a:buClr>
              <a:buSzPct val="100000"/>
              <a:buFont typeface="Raleway"/>
              <a:buChar char="○"/>
            </a:pPr>
            <a:r>
              <a:rPr lang="en" sz="6057">
                <a:solidFill>
                  <a:srgbClr val="000000"/>
                </a:solidFill>
                <a:latin typeface="Raleway"/>
                <a:ea typeface="Raleway"/>
                <a:cs typeface="Raleway"/>
                <a:sym typeface="Raleway"/>
              </a:rPr>
              <a:t>bias = none</a:t>
            </a:r>
            <a:endParaRPr sz="6057">
              <a:solidFill>
                <a:srgbClr val="000000"/>
              </a:solidFill>
              <a:latin typeface="Raleway"/>
              <a:ea typeface="Raleway"/>
              <a:cs typeface="Raleway"/>
              <a:sym typeface="Raleway"/>
            </a:endParaRPr>
          </a:p>
          <a:p>
            <a:pPr indent="-324765" lvl="0" marL="457200" rtl="0" algn="l">
              <a:spcBef>
                <a:spcPts val="0"/>
              </a:spcBef>
              <a:spcAft>
                <a:spcPts val="0"/>
              </a:spcAft>
              <a:buClr>
                <a:srgbClr val="000000"/>
              </a:buClr>
              <a:buSzPct val="100000"/>
              <a:buFont typeface="Raleway"/>
              <a:buChar char="●"/>
            </a:pPr>
            <a:r>
              <a:rPr lang="en" sz="6057">
                <a:solidFill>
                  <a:srgbClr val="000000"/>
                </a:solidFill>
                <a:latin typeface="Raleway"/>
                <a:ea typeface="Raleway"/>
                <a:cs typeface="Raleway"/>
                <a:sym typeface="Raleway"/>
              </a:rPr>
              <a:t>LoRA applied to:</a:t>
            </a:r>
            <a:endParaRPr sz="6057">
              <a:solidFill>
                <a:srgbClr val="000000"/>
              </a:solidFill>
              <a:latin typeface="Raleway"/>
              <a:ea typeface="Raleway"/>
              <a:cs typeface="Raleway"/>
              <a:sym typeface="Raleway"/>
            </a:endParaRPr>
          </a:p>
          <a:p>
            <a:pPr indent="-324765" lvl="1" marL="914400" rtl="0" algn="l">
              <a:spcBef>
                <a:spcPts val="0"/>
              </a:spcBef>
              <a:spcAft>
                <a:spcPts val="0"/>
              </a:spcAft>
              <a:buClr>
                <a:srgbClr val="000000"/>
              </a:buClr>
              <a:buSzPct val="100000"/>
              <a:buFont typeface="Raleway"/>
              <a:buChar char="○"/>
            </a:pPr>
            <a:r>
              <a:rPr lang="en" sz="6057">
                <a:solidFill>
                  <a:srgbClr val="000000"/>
                </a:solidFill>
                <a:latin typeface="Raleway"/>
                <a:ea typeface="Raleway"/>
                <a:cs typeface="Raleway"/>
                <a:sym typeface="Raleway"/>
              </a:rPr>
              <a:t>q_proj</a:t>
            </a:r>
            <a:endParaRPr sz="6057">
              <a:solidFill>
                <a:srgbClr val="000000"/>
              </a:solidFill>
              <a:latin typeface="Raleway"/>
              <a:ea typeface="Raleway"/>
              <a:cs typeface="Raleway"/>
              <a:sym typeface="Raleway"/>
            </a:endParaRPr>
          </a:p>
          <a:p>
            <a:pPr indent="-324765" lvl="1" marL="914400" rtl="0" algn="l">
              <a:spcBef>
                <a:spcPts val="0"/>
              </a:spcBef>
              <a:spcAft>
                <a:spcPts val="0"/>
              </a:spcAft>
              <a:buClr>
                <a:srgbClr val="000000"/>
              </a:buClr>
              <a:buSzPct val="100000"/>
              <a:buFont typeface="Raleway"/>
              <a:buChar char="○"/>
            </a:pPr>
            <a:r>
              <a:rPr lang="en" sz="6057">
                <a:solidFill>
                  <a:srgbClr val="000000"/>
                </a:solidFill>
                <a:latin typeface="Raleway"/>
                <a:ea typeface="Raleway"/>
                <a:cs typeface="Raleway"/>
                <a:sym typeface="Raleway"/>
              </a:rPr>
              <a:t>k_proj</a:t>
            </a:r>
            <a:endParaRPr sz="6057">
              <a:solidFill>
                <a:srgbClr val="000000"/>
              </a:solidFill>
              <a:latin typeface="Raleway"/>
              <a:ea typeface="Raleway"/>
              <a:cs typeface="Raleway"/>
              <a:sym typeface="Raleway"/>
            </a:endParaRPr>
          </a:p>
          <a:p>
            <a:pPr indent="-324765" lvl="1" marL="914400" rtl="0" algn="l">
              <a:spcBef>
                <a:spcPts val="0"/>
              </a:spcBef>
              <a:spcAft>
                <a:spcPts val="0"/>
              </a:spcAft>
              <a:buClr>
                <a:srgbClr val="000000"/>
              </a:buClr>
              <a:buSzPct val="100000"/>
              <a:buFont typeface="Raleway"/>
              <a:buChar char="○"/>
            </a:pPr>
            <a:r>
              <a:rPr lang="en" sz="6057">
                <a:solidFill>
                  <a:srgbClr val="000000"/>
                </a:solidFill>
                <a:latin typeface="Raleway"/>
                <a:ea typeface="Raleway"/>
                <a:cs typeface="Raleway"/>
                <a:sym typeface="Raleway"/>
              </a:rPr>
              <a:t>v_proj</a:t>
            </a:r>
            <a:endParaRPr sz="6057">
              <a:solidFill>
                <a:srgbClr val="000000"/>
              </a:solidFill>
              <a:latin typeface="Raleway"/>
              <a:ea typeface="Raleway"/>
              <a:cs typeface="Raleway"/>
              <a:sym typeface="Raleway"/>
            </a:endParaRPr>
          </a:p>
          <a:p>
            <a:pPr indent="-324765" lvl="1" marL="914400" rtl="0" algn="l">
              <a:spcBef>
                <a:spcPts val="0"/>
              </a:spcBef>
              <a:spcAft>
                <a:spcPts val="0"/>
              </a:spcAft>
              <a:buClr>
                <a:srgbClr val="000000"/>
              </a:buClr>
              <a:buSzPct val="100000"/>
              <a:buFont typeface="Raleway"/>
              <a:buChar char="○"/>
            </a:pPr>
            <a:r>
              <a:rPr lang="en" sz="6057">
                <a:solidFill>
                  <a:srgbClr val="000000"/>
                </a:solidFill>
                <a:latin typeface="Raleway"/>
                <a:ea typeface="Raleway"/>
                <a:cs typeface="Raleway"/>
                <a:sym typeface="Raleway"/>
              </a:rPr>
              <a:t>dense</a:t>
            </a:r>
            <a:endParaRPr sz="6057">
              <a:solidFill>
                <a:srgbClr val="000000"/>
              </a:solidFill>
              <a:latin typeface="Raleway"/>
              <a:ea typeface="Raleway"/>
              <a:cs typeface="Raleway"/>
              <a:sym typeface="Raleway"/>
            </a:endParaRPr>
          </a:p>
          <a:p>
            <a:pPr indent="-324765" lvl="0" marL="457200" rtl="0" algn="l">
              <a:spcBef>
                <a:spcPts val="0"/>
              </a:spcBef>
              <a:spcAft>
                <a:spcPts val="0"/>
              </a:spcAft>
              <a:buClr>
                <a:srgbClr val="000000"/>
              </a:buClr>
              <a:buSzPct val="100000"/>
              <a:buFont typeface="Raleway"/>
              <a:buChar char="●"/>
            </a:pPr>
            <a:r>
              <a:rPr lang="en" sz="6057">
                <a:solidFill>
                  <a:srgbClr val="000000"/>
                </a:solidFill>
                <a:latin typeface="Raleway"/>
                <a:ea typeface="Raleway"/>
                <a:cs typeface="Raleway"/>
                <a:sym typeface="Raleway"/>
              </a:rPr>
              <a:t>Trainable parameters: </a:t>
            </a:r>
            <a:r>
              <a:rPr b="1" lang="en" sz="6057">
                <a:solidFill>
                  <a:srgbClr val="000000"/>
                </a:solidFill>
                <a:latin typeface="Raleway"/>
                <a:ea typeface="Raleway"/>
                <a:cs typeface="Raleway"/>
                <a:sym typeface="Raleway"/>
              </a:rPr>
              <a:t>11,796,480</a:t>
            </a:r>
            <a:endParaRPr b="1" sz="6057">
              <a:solidFill>
                <a:srgbClr val="000000"/>
              </a:solidFill>
              <a:latin typeface="Raleway"/>
              <a:ea typeface="Raleway"/>
              <a:cs typeface="Raleway"/>
              <a:sym typeface="Raleway"/>
            </a:endParaRPr>
          </a:p>
          <a:p>
            <a:pPr indent="-324765" lvl="0" marL="457200" rtl="0" algn="l">
              <a:spcBef>
                <a:spcPts val="0"/>
              </a:spcBef>
              <a:spcAft>
                <a:spcPts val="0"/>
              </a:spcAft>
              <a:buClr>
                <a:srgbClr val="000000"/>
              </a:buClr>
              <a:buSzPct val="100000"/>
              <a:buFont typeface="Raleway"/>
              <a:buChar char="●"/>
            </a:pPr>
            <a:r>
              <a:rPr lang="en" sz="6057">
                <a:solidFill>
                  <a:srgbClr val="000000"/>
                </a:solidFill>
                <a:latin typeface="Raleway"/>
                <a:ea typeface="Raleway"/>
                <a:cs typeface="Raleway"/>
                <a:sym typeface="Raleway"/>
              </a:rPr>
              <a:t>This is </a:t>
            </a:r>
            <a:r>
              <a:rPr b="1" lang="en" sz="6057">
                <a:solidFill>
                  <a:srgbClr val="000000"/>
                </a:solidFill>
                <a:latin typeface="Raleway"/>
                <a:ea typeface="Raleway"/>
                <a:cs typeface="Raleway"/>
                <a:sym typeface="Raleway"/>
              </a:rPr>
              <a:t>0.42%</a:t>
            </a:r>
            <a:r>
              <a:rPr lang="en" sz="6057">
                <a:solidFill>
                  <a:srgbClr val="000000"/>
                </a:solidFill>
                <a:latin typeface="Raleway"/>
                <a:ea typeface="Raleway"/>
                <a:cs typeface="Raleway"/>
                <a:sym typeface="Raleway"/>
              </a:rPr>
              <a:t> of full model parameters</a:t>
            </a:r>
            <a:endParaRPr sz="6057">
              <a:solidFill>
                <a:srgbClr val="000000"/>
              </a:solidFill>
              <a:latin typeface="Raleway"/>
              <a:ea typeface="Raleway"/>
              <a:cs typeface="Raleway"/>
              <a:sym typeface="Raleway"/>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and Client Partitioning</a:t>
            </a:r>
            <a:endParaRPr/>
          </a:p>
        </p:txBody>
      </p:sp>
      <p:sp>
        <p:nvSpPr>
          <p:cNvPr id="129" name="Google Shape;129;p20"/>
          <p:cNvSpPr txBox="1"/>
          <p:nvPr>
            <p:ph idx="1" type="body"/>
          </p:nvPr>
        </p:nvSpPr>
        <p:spPr>
          <a:xfrm>
            <a:off x="729450" y="2078875"/>
            <a:ext cx="7688700" cy="2903700"/>
          </a:xfrm>
          <a:prstGeom prst="rect">
            <a:avLst/>
          </a:prstGeom>
        </p:spPr>
        <p:txBody>
          <a:bodyPr anchorCtr="0" anchor="t" bIns="91425" lIns="91425" spcFirstLastPara="1" rIns="91425" wrap="square" tIns="91425">
            <a:normAutofit fontScale="25000" lnSpcReduction="10000"/>
          </a:bodyPr>
          <a:lstStyle/>
          <a:p>
            <a:pPr indent="-323850" lvl="0" marL="457200" rtl="0" algn="l">
              <a:spcBef>
                <a:spcPts val="0"/>
              </a:spcBef>
              <a:spcAft>
                <a:spcPts val="0"/>
              </a:spcAft>
              <a:buSzPct val="100000"/>
              <a:buFont typeface="Raleway"/>
              <a:buChar char="●"/>
            </a:pPr>
            <a:r>
              <a:rPr lang="en" sz="6000">
                <a:latin typeface="Raleway"/>
                <a:ea typeface="Raleway"/>
                <a:cs typeface="Raleway"/>
                <a:sym typeface="Raleway"/>
              </a:rPr>
              <a:t>Dataset: Alpaca-GPT4</a:t>
            </a:r>
            <a:endParaRPr sz="6000">
              <a:latin typeface="Raleway"/>
              <a:ea typeface="Raleway"/>
              <a:cs typeface="Raleway"/>
              <a:sym typeface="Raleway"/>
            </a:endParaRPr>
          </a:p>
          <a:p>
            <a:pPr indent="-323850" lvl="0" marL="457200" rtl="0" algn="l">
              <a:spcBef>
                <a:spcPts val="0"/>
              </a:spcBef>
              <a:spcAft>
                <a:spcPts val="0"/>
              </a:spcAft>
              <a:buSzPct val="100000"/>
              <a:buFont typeface="Raleway"/>
              <a:buChar char="●"/>
            </a:pPr>
            <a:r>
              <a:rPr lang="en" sz="6000">
                <a:latin typeface="Raleway"/>
                <a:ea typeface="Raleway"/>
                <a:cs typeface="Raleway"/>
                <a:sym typeface="Raleway"/>
              </a:rPr>
              <a:t>Original dataset size: about 52,000 instruction examples</a:t>
            </a:r>
            <a:endParaRPr sz="6000">
              <a:latin typeface="Raleway"/>
              <a:ea typeface="Raleway"/>
              <a:cs typeface="Raleway"/>
              <a:sym typeface="Raleway"/>
            </a:endParaRPr>
          </a:p>
          <a:p>
            <a:pPr indent="-323850" lvl="0" marL="457200" rtl="0" algn="l">
              <a:spcBef>
                <a:spcPts val="0"/>
              </a:spcBef>
              <a:spcAft>
                <a:spcPts val="0"/>
              </a:spcAft>
              <a:buSzPct val="100000"/>
              <a:buFont typeface="Raleway"/>
              <a:buChar char="●"/>
            </a:pPr>
            <a:r>
              <a:rPr lang="en" sz="6000">
                <a:latin typeface="Raleway"/>
                <a:ea typeface="Raleway"/>
                <a:cs typeface="Raleway"/>
                <a:sym typeface="Raleway"/>
              </a:rPr>
              <a:t>Subsample used:</a:t>
            </a:r>
            <a:endParaRPr sz="6000">
              <a:latin typeface="Raleway"/>
              <a:ea typeface="Raleway"/>
              <a:cs typeface="Raleway"/>
              <a:sym typeface="Raleway"/>
            </a:endParaRPr>
          </a:p>
          <a:p>
            <a:pPr indent="-323850" lvl="1" marL="914400" rtl="0" algn="l">
              <a:spcBef>
                <a:spcPts val="0"/>
              </a:spcBef>
              <a:spcAft>
                <a:spcPts val="0"/>
              </a:spcAft>
              <a:buSzPct val="100000"/>
              <a:buFont typeface="Raleway"/>
              <a:buChar char="○"/>
            </a:pPr>
            <a:r>
              <a:rPr lang="en" sz="6000">
                <a:latin typeface="Raleway"/>
                <a:ea typeface="Raleway"/>
                <a:cs typeface="Raleway"/>
                <a:sym typeface="Raleway"/>
              </a:rPr>
              <a:t>800 training</a:t>
            </a:r>
            <a:endParaRPr sz="6000">
              <a:latin typeface="Raleway"/>
              <a:ea typeface="Raleway"/>
              <a:cs typeface="Raleway"/>
              <a:sym typeface="Raleway"/>
            </a:endParaRPr>
          </a:p>
          <a:p>
            <a:pPr indent="-323850" lvl="1" marL="914400" rtl="0" algn="l">
              <a:spcBef>
                <a:spcPts val="0"/>
              </a:spcBef>
              <a:spcAft>
                <a:spcPts val="0"/>
              </a:spcAft>
              <a:buSzPct val="100000"/>
              <a:buFont typeface="Raleway"/>
              <a:buChar char="○"/>
            </a:pPr>
            <a:r>
              <a:rPr lang="en" sz="6000">
                <a:latin typeface="Raleway"/>
                <a:ea typeface="Raleway"/>
                <a:cs typeface="Raleway"/>
                <a:sym typeface="Raleway"/>
              </a:rPr>
              <a:t>200 validation</a:t>
            </a:r>
            <a:endParaRPr sz="6000">
              <a:latin typeface="Raleway"/>
              <a:ea typeface="Raleway"/>
              <a:cs typeface="Raleway"/>
              <a:sym typeface="Raleway"/>
            </a:endParaRPr>
          </a:p>
          <a:p>
            <a:pPr indent="-323850" lvl="0" marL="457200" rtl="0" algn="l">
              <a:spcBef>
                <a:spcPts val="0"/>
              </a:spcBef>
              <a:spcAft>
                <a:spcPts val="0"/>
              </a:spcAft>
              <a:buSzPct val="100000"/>
              <a:buFont typeface="Raleway"/>
              <a:buChar char="●"/>
            </a:pPr>
            <a:r>
              <a:rPr lang="en" sz="6000">
                <a:latin typeface="Raleway"/>
                <a:ea typeface="Raleway"/>
                <a:cs typeface="Raleway"/>
                <a:sym typeface="Raleway"/>
              </a:rPr>
              <a:t>8 simulated clients</a:t>
            </a:r>
            <a:endParaRPr sz="6000">
              <a:latin typeface="Raleway"/>
              <a:ea typeface="Raleway"/>
              <a:cs typeface="Raleway"/>
              <a:sym typeface="Raleway"/>
            </a:endParaRPr>
          </a:p>
          <a:p>
            <a:pPr indent="-323850" lvl="0" marL="457200" rtl="0" algn="l">
              <a:spcBef>
                <a:spcPts val="0"/>
              </a:spcBef>
              <a:spcAft>
                <a:spcPts val="0"/>
              </a:spcAft>
              <a:buSzPct val="100000"/>
              <a:buFont typeface="Raleway"/>
              <a:buChar char="●"/>
            </a:pPr>
            <a:r>
              <a:rPr lang="en" sz="6000">
                <a:latin typeface="Raleway"/>
                <a:ea typeface="Raleway"/>
                <a:cs typeface="Raleway"/>
                <a:sym typeface="Raleway"/>
              </a:rPr>
              <a:t>Two partition schemes:</a:t>
            </a:r>
            <a:endParaRPr sz="6000">
              <a:latin typeface="Raleway"/>
              <a:ea typeface="Raleway"/>
              <a:cs typeface="Raleway"/>
              <a:sym typeface="Raleway"/>
            </a:endParaRPr>
          </a:p>
          <a:p>
            <a:pPr indent="-323850" lvl="1" marL="914400" rtl="0" algn="l">
              <a:spcBef>
                <a:spcPts val="0"/>
              </a:spcBef>
              <a:spcAft>
                <a:spcPts val="0"/>
              </a:spcAft>
              <a:buSzPct val="100000"/>
              <a:buFont typeface="Raleway"/>
              <a:buChar char="○"/>
            </a:pPr>
            <a:r>
              <a:rPr lang="en" sz="6000">
                <a:latin typeface="Raleway"/>
                <a:ea typeface="Raleway"/>
                <a:cs typeface="Raleway"/>
                <a:sym typeface="Raleway"/>
              </a:rPr>
              <a:t>IID: roughly uniform random split</a:t>
            </a:r>
            <a:endParaRPr sz="6000">
              <a:latin typeface="Raleway"/>
              <a:ea typeface="Raleway"/>
              <a:cs typeface="Raleway"/>
              <a:sym typeface="Raleway"/>
            </a:endParaRPr>
          </a:p>
          <a:p>
            <a:pPr indent="-323850" lvl="1" marL="914400" rtl="0" algn="l">
              <a:spcBef>
                <a:spcPts val="0"/>
              </a:spcBef>
              <a:spcAft>
                <a:spcPts val="0"/>
              </a:spcAft>
              <a:buSzPct val="100000"/>
              <a:buFont typeface="Raleway"/>
              <a:buChar char="○"/>
            </a:pPr>
            <a:r>
              <a:rPr lang="en" sz="6000">
                <a:latin typeface="Raleway"/>
                <a:ea typeface="Raleway"/>
                <a:cs typeface="Raleway"/>
                <a:sym typeface="Raleway"/>
              </a:rPr>
              <a:t>Non-IID: grouped by short, long, and code-related responses</a:t>
            </a:r>
            <a:endParaRPr sz="6000">
              <a:latin typeface="Raleway"/>
              <a:ea typeface="Raleway"/>
              <a:cs typeface="Raleway"/>
              <a:sym typeface="Raleway"/>
            </a:endParaRPr>
          </a:p>
          <a:p>
            <a:pPr indent="-323850" lvl="0" marL="457200" rtl="0" algn="l">
              <a:spcBef>
                <a:spcPts val="0"/>
              </a:spcBef>
              <a:spcAft>
                <a:spcPts val="0"/>
              </a:spcAft>
              <a:buSzPct val="100000"/>
              <a:buFont typeface="Raleway"/>
              <a:buChar char="●"/>
            </a:pPr>
            <a:r>
              <a:rPr lang="en" sz="6000">
                <a:latin typeface="Raleway"/>
                <a:ea typeface="Raleway"/>
                <a:cs typeface="Raleway"/>
                <a:sym typeface="Raleway"/>
              </a:rPr>
              <a:t>Non-IID client sizes ranged from 20 to 261 examples</a:t>
            </a:r>
            <a:endParaRPr sz="6000">
              <a:latin typeface="Raleway"/>
              <a:ea typeface="Raleway"/>
              <a:cs typeface="Raleway"/>
              <a:sym typeface="Raleway"/>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Experimental Design</a:t>
            </a:r>
            <a:endParaRPr/>
          </a:p>
        </p:txBody>
      </p:sp>
      <p:sp>
        <p:nvSpPr>
          <p:cNvPr id="135" name="Google Shape;135;p2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517">
                <a:latin typeface="Raleway"/>
                <a:ea typeface="Raleway"/>
                <a:cs typeface="Raleway"/>
                <a:sym typeface="Raleway"/>
              </a:rPr>
              <a:t>Four experiments</a:t>
            </a:r>
            <a:endParaRPr sz="1517">
              <a:latin typeface="Raleway"/>
              <a:ea typeface="Raleway"/>
              <a:cs typeface="Raleway"/>
              <a:sym typeface="Raleway"/>
            </a:endParaRPr>
          </a:p>
          <a:p>
            <a:pPr indent="-324961" lvl="0" marL="457200" rtl="0" algn="l">
              <a:lnSpc>
                <a:spcPct val="95000"/>
              </a:lnSpc>
              <a:spcBef>
                <a:spcPts val="1200"/>
              </a:spcBef>
              <a:spcAft>
                <a:spcPts val="0"/>
              </a:spcAft>
              <a:buSzPts val="1518"/>
              <a:buFont typeface="Raleway"/>
              <a:buAutoNum type="arabicPeriod"/>
            </a:pPr>
            <a:r>
              <a:rPr lang="en" sz="1517">
                <a:latin typeface="Raleway"/>
                <a:ea typeface="Raleway"/>
                <a:cs typeface="Raleway"/>
                <a:sym typeface="Raleway"/>
              </a:rPr>
              <a:t>IID Baseline — 4/8 clients per round, 6 rounds</a:t>
            </a:r>
            <a:endParaRPr sz="1517">
              <a:latin typeface="Raleway"/>
              <a:ea typeface="Raleway"/>
              <a:cs typeface="Raleway"/>
              <a:sym typeface="Raleway"/>
            </a:endParaRPr>
          </a:p>
          <a:p>
            <a:pPr indent="-324961" lvl="0" marL="457200" rtl="0" algn="l">
              <a:lnSpc>
                <a:spcPct val="95000"/>
              </a:lnSpc>
              <a:spcBef>
                <a:spcPts val="0"/>
              </a:spcBef>
              <a:spcAft>
                <a:spcPts val="0"/>
              </a:spcAft>
              <a:buSzPts val="1518"/>
              <a:buFont typeface="Raleway"/>
              <a:buAutoNum type="arabicPeriod"/>
            </a:pPr>
            <a:r>
              <a:rPr lang="en" sz="1517">
                <a:latin typeface="Raleway"/>
                <a:ea typeface="Raleway"/>
                <a:cs typeface="Raleway"/>
                <a:sym typeface="Raleway"/>
              </a:rPr>
              <a:t>Non-IID Baseline — 4/8 clients per round, 6 rounds</a:t>
            </a:r>
            <a:endParaRPr sz="1517">
              <a:latin typeface="Raleway"/>
              <a:ea typeface="Raleway"/>
              <a:cs typeface="Raleway"/>
              <a:sym typeface="Raleway"/>
            </a:endParaRPr>
          </a:p>
          <a:p>
            <a:pPr indent="-324961" lvl="0" marL="457200" rtl="0" algn="l">
              <a:lnSpc>
                <a:spcPct val="95000"/>
              </a:lnSpc>
              <a:spcBef>
                <a:spcPts val="0"/>
              </a:spcBef>
              <a:spcAft>
                <a:spcPts val="0"/>
              </a:spcAft>
              <a:buSzPts val="1518"/>
              <a:buFont typeface="Raleway"/>
              <a:buAutoNum type="arabicPeriod"/>
            </a:pPr>
            <a:r>
              <a:rPr lang="en" sz="1517">
                <a:latin typeface="Raleway"/>
                <a:ea typeface="Raleway"/>
                <a:cs typeface="Raleway"/>
                <a:sym typeface="Raleway"/>
              </a:rPr>
              <a:t>High Client Fraction — 6/8 clients per round, 6 rounds</a:t>
            </a:r>
            <a:endParaRPr sz="1517">
              <a:latin typeface="Raleway"/>
              <a:ea typeface="Raleway"/>
              <a:cs typeface="Raleway"/>
              <a:sym typeface="Raleway"/>
            </a:endParaRPr>
          </a:p>
          <a:p>
            <a:pPr indent="-324961" lvl="0" marL="457200" rtl="0" algn="l">
              <a:lnSpc>
                <a:spcPct val="95000"/>
              </a:lnSpc>
              <a:spcBef>
                <a:spcPts val="0"/>
              </a:spcBef>
              <a:spcAft>
                <a:spcPts val="0"/>
              </a:spcAft>
              <a:buSzPts val="1518"/>
              <a:buFont typeface="Raleway"/>
              <a:buAutoNum type="arabicPeriod"/>
            </a:pPr>
            <a:r>
              <a:rPr lang="en" sz="1517">
                <a:latin typeface="Raleway"/>
                <a:ea typeface="Raleway"/>
                <a:cs typeface="Raleway"/>
                <a:sym typeface="Raleway"/>
              </a:rPr>
              <a:t>More Rounds — 4/8 clients per round, 10 rounds</a:t>
            </a:r>
            <a:endParaRPr sz="1517">
              <a:latin typeface="Raleway"/>
              <a:ea typeface="Raleway"/>
              <a:cs typeface="Raleway"/>
              <a:sym typeface="Raleway"/>
            </a:endParaRPr>
          </a:p>
          <a:p>
            <a:pPr indent="0" lvl="0" marL="0" rtl="0" algn="l">
              <a:lnSpc>
                <a:spcPct val="95000"/>
              </a:lnSpc>
              <a:spcBef>
                <a:spcPts val="1200"/>
              </a:spcBef>
              <a:spcAft>
                <a:spcPts val="1200"/>
              </a:spcAft>
              <a:buNone/>
            </a:pPr>
            <a:r>
              <a:t/>
            </a:r>
            <a:endParaRPr sz="1517">
              <a:latin typeface="Raleway"/>
              <a:ea typeface="Raleway"/>
              <a:cs typeface="Raleway"/>
              <a:sym typeface="Ralew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Evaluation Metrics</a:t>
            </a:r>
            <a:endParaRPr/>
          </a:p>
        </p:txBody>
      </p:sp>
      <p:sp>
        <p:nvSpPr>
          <p:cNvPr id="141" name="Google Shape;141;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25000" lnSpcReduction="20000"/>
          </a:bodyPr>
          <a:lstStyle/>
          <a:p>
            <a:pPr indent="-323850" lvl="0" marL="457200" rtl="0" algn="l">
              <a:spcBef>
                <a:spcPts val="120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Training loss</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Validation loss</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Perplexity =exp⁡(Lval)= \exp(L_{val})=exp(Lval​)</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Token accuracy</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Client validation loss gap</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Communication cost</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Runtime</a:t>
            </a:r>
            <a:endParaRPr sz="6000">
              <a:solidFill>
                <a:srgbClr val="000000"/>
              </a:solidFill>
              <a:latin typeface="Raleway"/>
              <a:ea typeface="Raleway"/>
              <a:cs typeface="Raleway"/>
              <a:sym typeface="Raleway"/>
            </a:endParaRPr>
          </a:p>
          <a:p>
            <a:pPr indent="0" lvl="0" marL="0" rtl="0" algn="l">
              <a:spcBef>
                <a:spcPts val="1200"/>
              </a:spcBef>
              <a:spcAft>
                <a:spcPts val="0"/>
              </a:spcAft>
              <a:buNone/>
            </a:pPr>
            <a:r>
              <a:rPr b="1" lang="en" sz="6000">
                <a:solidFill>
                  <a:srgbClr val="000000"/>
                </a:solidFill>
                <a:latin typeface="Raleway"/>
                <a:ea typeface="Raleway"/>
                <a:cs typeface="Raleway"/>
                <a:sym typeface="Raleway"/>
              </a:rPr>
              <a:t>Why client loss gap matters</a:t>
            </a:r>
            <a:endParaRPr b="1" sz="6000">
              <a:solidFill>
                <a:srgbClr val="000000"/>
              </a:solidFill>
              <a:latin typeface="Raleway"/>
              <a:ea typeface="Raleway"/>
              <a:cs typeface="Raleway"/>
              <a:sym typeface="Raleway"/>
            </a:endParaRPr>
          </a:p>
          <a:p>
            <a:pPr indent="-323850" lvl="0" marL="457200" rtl="0" algn="l">
              <a:spcBef>
                <a:spcPts val="120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measures fairness / heterogeneity</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defined as max client validation loss minus min client validation loss</a:t>
            </a:r>
            <a:endParaRPr sz="6000">
              <a:solidFill>
                <a:srgbClr val="000000"/>
              </a:solidFill>
              <a:latin typeface="Raleway"/>
              <a:ea typeface="Raleway"/>
              <a:cs typeface="Raleway"/>
              <a:sym typeface="Raleway"/>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Main Result Table</a:t>
            </a:r>
            <a:endParaRPr/>
          </a:p>
        </p:txBody>
      </p:sp>
      <p:pic>
        <p:nvPicPr>
          <p:cNvPr id="147" name="Google Shape;147;p23"/>
          <p:cNvPicPr preferRelativeResize="0"/>
          <p:nvPr/>
        </p:nvPicPr>
        <p:blipFill>
          <a:blip r:embed="rId3">
            <a:alphaModFix/>
          </a:blip>
          <a:stretch>
            <a:fillRect/>
          </a:stretch>
        </p:blipFill>
        <p:spPr>
          <a:xfrm>
            <a:off x="98725" y="2674950"/>
            <a:ext cx="8839204" cy="828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Convergence Behavior</a:t>
            </a:r>
            <a:endParaRPr/>
          </a:p>
        </p:txBody>
      </p:sp>
      <p:sp>
        <p:nvSpPr>
          <p:cNvPr id="153" name="Google Shape;153;p24"/>
          <p:cNvSpPr txBox="1"/>
          <p:nvPr>
            <p:ph idx="1" type="body"/>
          </p:nvPr>
        </p:nvSpPr>
        <p:spPr>
          <a:xfrm>
            <a:off x="729450" y="2078875"/>
            <a:ext cx="4208400" cy="2261100"/>
          </a:xfrm>
          <a:prstGeom prst="rect">
            <a:avLst/>
          </a:prstGeom>
        </p:spPr>
        <p:txBody>
          <a:bodyPr anchorCtr="0" anchor="t" bIns="91425" lIns="91425" spcFirstLastPara="1" rIns="91425" wrap="square" tIns="91425">
            <a:normAutofit fontScale="85000"/>
          </a:bodyPr>
          <a:lstStyle/>
          <a:p>
            <a:pPr indent="0" lvl="0" marL="0" rtl="0" algn="l">
              <a:spcBef>
                <a:spcPts val="1200"/>
              </a:spcBef>
              <a:spcAft>
                <a:spcPts val="0"/>
              </a:spcAft>
              <a:buNone/>
            </a:pPr>
            <a:r>
              <a:rPr b="1" lang="en" sz="1500">
                <a:solidFill>
                  <a:srgbClr val="000000"/>
                </a:solidFill>
                <a:latin typeface="Raleway"/>
                <a:ea typeface="Raleway"/>
                <a:cs typeface="Raleway"/>
                <a:sym typeface="Raleway"/>
              </a:rPr>
              <a:t>Key observations</a:t>
            </a:r>
            <a:endParaRPr b="1" sz="1500">
              <a:solidFill>
                <a:srgbClr val="000000"/>
              </a:solidFill>
              <a:latin typeface="Raleway"/>
              <a:ea typeface="Raleway"/>
              <a:cs typeface="Raleway"/>
              <a:sym typeface="Raleway"/>
            </a:endParaRPr>
          </a:p>
          <a:p>
            <a:pPr indent="-309562" lvl="0" marL="457200" rtl="0" algn="l">
              <a:spcBef>
                <a:spcPts val="1200"/>
              </a:spcBef>
              <a:spcAft>
                <a:spcPts val="0"/>
              </a:spcAft>
              <a:buClr>
                <a:srgbClr val="000000"/>
              </a:buClr>
              <a:buSzPct val="100000"/>
              <a:buFont typeface="Arial"/>
              <a:buChar char="●"/>
            </a:pPr>
            <a:r>
              <a:rPr lang="en" sz="1500">
                <a:solidFill>
                  <a:srgbClr val="000000"/>
                </a:solidFill>
                <a:latin typeface="Raleway"/>
                <a:ea typeface="Raleway"/>
                <a:cs typeface="Raleway"/>
                <a:sym typeface="Raleway"/>
              </a:rPr>
              <a:t>Training loss drops from </a:t>
            </a:r>
            <a:r>
              <a:rPr b="1" lang="en" sz="1500">
                <a:solidFill>
                  <a:srgbClr val="000000"/>
                </a:solidFill>
                <a:latin typeface="Raleway"/>
                <a:ea typeface="Raleway"/>
                <a:cs typeface="Raleway"/>
                <a:sym typeface="Raleway"/>
              </a:rPr>
              <a:t>1.085 to 0.866</a:t>
            </a:r>
            <a:endParaRPr b="1" sz="1500">
              <a:solidFill>
                <a:srgbClr val="000000"/>
              </a:solidFill>
              <a:latin typeface="Raleway"/>
              <a:ea typeface="Raleway"/>
              <a:cs typeface="Raleway"/>
              <a:sym typeface="Raleway"/>
            </a:endParaRPr>
          </a:p>
          <a:p>
            <a:pPr indent="-309562" lvl="0" marL="457200" rtl="0" algn="l">
              <a:spcBef>
                <a:spcPts val="0"/>
              </a:spcBef>
              <a:spcAft>
                <a:spcPts val="0"/>
              </a:spcAft>
              <a:buClr>
                <a:srgbClr val="000000"/>
              </a:buClr>
              <a:buSzPct val="100000"/>
              <a:buFont typeface="Raleway"/>
              <a:buChar char="●"/>
            </a:pPr>
            <a:r>
              <a:rPr lang="en" sz="1500">
                <a:solidFill>
                  <a:srgbClr val="000000"/>
                </a:solidFill>
                <a:latin typeface="Raleway"/>
                <a:ea typeface="Raleway"/>
                <a:cs typeface="Raleway"/>
                <a:sym typeface="Raleway"/>
              </a:rPr>
              <a:t>Validation loss decreases first, then oscillates</a:t>
            </a:r>
            <a:endParaRPr sz="1500">
              <a:solidFill>
                <a:srgbClr val="000000"/>
              </a:solidFill>
              <a:latin typeface="Raleway"/>
              <a:ea typeface="Raleway"/>
              <a:cs typeface="Raleway"/>
              <a:sym typeface="Raleway"/>
            </a:endParaRPr>
          </a:p>
          <a:p>
            <a:pPr indent="-309562" lvl="0" marL="457200" rtl="0" algn="l">
              <a:spcBef>
                <a:spcPts val="0"/>
              </a:spcBef>
              <a:spcAft>
                <a:spcPts val="0"/>
              </a:spcAft>
              <a:buClr>
                <a:srgbClr val="000000"/>
              </a:buClr>
              <a:buSzPct val="100000"/>
              <a:buFont typeface="Raleway"/>
              <a:buChar char="●"/>
            </a:pPr>
            <a:r>
              <a:rPr lang="en" sz="1500">
                <a:solidFill>
                  <a:srgbClr val="000000"/>
                </a:solidFill>
                <a:latin typeface="Raleway"/>
                <a:ea typeface="Raleway"/>
                <a:cs typeface="Raleway"/>
                <a:sym typeface="Raleway"/>
              </a:rPr>
              <a:t>Best validation region occurs early, then rises again</a:t>
            </a:r>
            <a:endParaRPr sz="1500">
              <a:solidFill>
                <a:srgbClr val="000000"/>
              </a:solidFill>
              <a:latin typeface="Raleway"/>
              <a:ea typeface="Raleway"/>
              <a:cs typeface="Raleway"/>
              <a:sym typeface="Raleway"/>
            </a:endParaRPr>
          </a:p>
          <a:p>
            <a:pPr indent="-309562" lvl="0" marL="457200" rtl="0" algn="l">
              <a:spcBef>
                <a:spcPts val="0"/>
              </a:spcBef>
              <a:spcAft>
                <a:spcPts val="0"/>
              </a:spcAft>
              <a:buClr>
                <a:srgbClr val="000000"/>
              </a:buClr>
              <a:buSzPct val="100000"/>
              <a:buFont typeface="Arial"/>
              <a:buChar char="●"/>
            </a:pPr>
            <a:r>
              <a:rPr lang="en" sz="1500">
                <a:solidFill>
                  <a:srgbClr val="000000"/>
                </a:solidFill>
                <a:latin typeface="Raleway"/>
                <a:ea typeface="Raleway"/>
                <a:cs typeface="Raleway"/>
                <a:sym typeface="Raleway"/>
              </a:rPr>
              <a:t>Indicates </a:t>
            </a:r>
            <a:r>
              <a:rPr b="1" lang="en" sz="1500">
                <a:solidFill>
                  <a:srgbClr val="000000"/>
                </a:solidFill>
                <a:latin typeface="Raleway"/>
                <a:ea typeface="Raleway"/>
                <a:cs typeface="Raleway"/>
                <a:sym typeface="Raleway"/>
              </a:rPr>
              <a:t>client drift</a:t>
            </a:r>
            <a:r>
              <a:rPr lang="en" sz="1500">
                <a:solidFill>
                  <a:srgbClr val="000000"/>
                </a:solidFill>
                <a:latin typeface="Raleway"/>
                <a:ea typeface="Raleway"/>
                <a:cs typeface="Raleway"/>
                <a:sym typeface="Raleway"/>
              </a:rPr>
              <a:t> under heterogeneous local training</a:t>
            </a:r>
            <a:endParaRPr sz="1500">
              <a:solidFill>
                <a:srgbClr val="000000"/>
              </a:solidFill>
              <a:latin typeface="Raleway"/>
              <a:ea typeface="Raleway"/>
              <a:cs typeface="Raleway"/>
              <a:sym typeface="Raleway"/>
            </a:endParaRPr>
          </a:p>
          <a:p>
            <a:pPr indent="0" lvl="0" marL="0" rtl="0" algn="l">
              <a:spcBef>
                <a:spcPts val="1200"/>
              </a:spcBef>
              <a:spcAft>
                <a:spcPts val="1200"/>
              </a:spcAft>
              <a:buNone/>
            </a:pPr>
            <a:r>
              <a:t/>
            </a:r>
            <a:endParaRPr/>
          </a:p>
        </p:txBody>
      </p:sp>
      <p:pic>
        <p:nvPicPr>
          <p:cNvPr id="154" name="Google Shape;154;p24"/>
          <p:cNvPicPr preferRelativeResize="0"/>
          <p:nvPr/>
        </p:nvPicPr>
        <p:blipFill>
          <a:blip r:embed="rId3">
            <a:alphaModFix/>
          </a:blip>
          <a:stretch>
            <a:fillRect/>
          </a:stretch>
        </p:blipFill>
        <p:spPr>
          <a:xfrm>
            <a:off x="4973975" y="1997300"/>
            <a:ext cx="3901350" cy="219032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Perplexity Behavior</a:t>
            </a:r>
            <a:endParaRPr/>
          </a:p>
        </p:txBody>
      </p:sp>
      <p:sp>
        <p:nvSpPr>
          <p:cNvPr id="160" name="Google Shape;160;p25"/>
          <p:cNvSpPr txBox="1"/>
          <p:nvPr>
            <p:ph idx="1" type="body"/>
          </p:nvPr>
        </p:nvSpPr>
        <p:spPr>
          <a:xfrm>
            <a:off x="729450" y="2078875"/>
            <a:ext cx="3412200" cy="22611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None/>
            </a:pPr>
            <a:r>
              <a:rPr b="1" lang="en" sz="6149">
                <a:solidFill>
                  <a:srgbClr val="000000"/>
                </a:solidFill>
                <a:latin typeface="Raleway"/>
                <a:ea typeface="Raleway"/>
                <a:cs typeface="Raleway"/>
                <a:sym typeface="Raleway"/>
              </a:rPr>
              <a:t>Key observations</a:t>
            </a:r>
            <a:endParaRPr b="1" sz="6149">
              <a:solidFill>
                <a:srgbClr val="000000"/>
              </a:solidFill>
              <a:latin typeface="Raleway"/>
              <a:ea typeface="Raleway"/>
              <a:cs typeface="Raleway"/>
              <a:sym typeface="Raleway"/>
            </a:endParaRPr>
          </a:p>
          <a:p>
            <a:pPr indent="-326225" lvl="0" marL="457200" rtl="0" algn="l">
              <a:spcBef>
                <a:spcPts val="1200"/>
              </a:spcBef>
              <a:spcAft>
                <a:spcPts val="0"/>
              </a:spcAft>
              <a:buClr>
                <a:srgbClr val="000000"/>
              </a:buClr>
              <a:buSzPct val="100000"/>
              <a:buFont typeface="Arial"/>
              <a:buChar char="●"/>
            </a:pPr>
            <a:r>
              <a:rPr lang="en" sz="6149">
                <a:solidFill>
                  <a:srgbClr val="000000"/>
                </a:solidFill>
                <a:latin typeface="Raleway"/>
                <a:ea typeface="Raleway"/>
                <a:cs typeface="Raleway"/>
                <a:sym typeface="Raleway"/>
              </a:rPr>
              <a:t>Perplexity ranges from </a:t>
            </a:r>
            <a:r>
              <a:rPr b="1" lang="en" sz="6149">
                <a:solidFill>
                  <a:srgbClr val="000000"/>
                </a:solidFill>
                <a:latin typeface="Raleway"/>
                <a:ea typeface="Raleway"/>
                <a:cs typeface="Raleway"/>
                <a:sym typeface="Raleway"/>
              </a:rPr>
              <a:t>2.566 to 2.771</a:t>
            </a:r>
            <a:endParaRPr b="1" sz="6149">
              <a:solidFill>
                <a:srgbClr val="000000"/>
              </a:solidFill>
              <a:latin typeface="Raleway"/>
              <a:ea typeface="Raleway"/>
              <a:cs typeface="Raleway"/>
              <a:sym typeface="Raleway"/>
            </a:endParaRPr>
          </a:p>
          <a:p>
            <a:pPr indent="-326225" lvl="0" marL="457200" rtl="0" algn="l">
              <a:spcBef>
                <a:spcPts val="0"/>
              </a:spcBef>
              <a:spcAft>
                <a:spcPts val="0"/>
              </a:spcAft>
              <a:buClr>
                <a:srgbClr val="000000"/>
              </a:buClr>
              <a:buSzPct val="100000"/>
              <a:buFont typeface="Raleway"/>
              <a:buChar char="●"/>
            </a:pPr>
            <a:r>
              <a:rPr lang="en" sz="6149">
                <a:solidFill>
                  <a:srgbClr val="000000"/>
                </a:solidFill>
                <a:latin typeface="Raleway"/>
                <a:ea typeface="Raleway"/>
                <a:cs typeface="Raleway"/>
                <a:sym typeface="Raleway"/>
              </a:rPr>
              <a:t>Best value occurs around round 3</a:t>
            </a:r>
            <a:endParaRPr sz="6149">
              <a:solidFill>
                <a:srgbClr val="000000"/>
              </a:solidFill>
              <a:latin typeface="Raleway"/>
              <a:ea typeface="Raleway"/>
              <a:cs typeface="Raleway"/>
              <a:sym typeface="Raleway"/>
            </a:endParaRPr>
          </a:p>
          <a:p>
            <a:pPr indent="-326225" lvl="0" marL="457200" rtl="0" algn="l">
              <a:spcBef>
                <a:spcPts val="0"/>
              </a:spcBef>
              <a:spcAft>
                <a:spcPts val="0"/>
              </a:spcAft>
              <a:buClr>
                <a:srgbClr val="000000"/>
              </a:buClr>
              <a:buSzPct val="100000"/>
              <a:buFont typeface="Raleway"/>
              <a:buChar char="●"/>
            </a:pPr>
            <a:r>
              <a:rPr lang="en" sz="6149">
                <a:solidFill>
                  <a:srgbClr val="000000"/>
                </a:solidFill>
                <a:latin typeface="Raleway"/>
                <a:ea typeface="Raleway"/>
                <a:cs typeface="Raleway"/>
                <a:sym typeface="Raleway"/>
              </a:rPr>
              <a:t>Later rounds do not guarantee better generalization</a:t>
            </a:r>
            <a:endParaRPr sz="6149">
              <a:solidFill>
                <a:srgbClr val="000000"/>
              </a:solidFill>
              <a:latin typeface="Raleway"/>
              <a:ea typeface="Raleway"/>
              <a:cs typeface="Raleway"/>
              <a:sym typeface="Raleway"/>
            </a:endParaRPr>
          </a:p>
          <a:p>
            <a:pPr indent="-326225" lvl="0" marL="457200" rtl="0" algn="l">
              <a:spcBef>
                <a:spcPts val="0"/>
              </a:spcBef>
              <a:spcAft>
                <a:spcPts val="0"/>
              </a:spcAft>
              <a:buClr>
                <a:srgbClr val="000000"/>
              </a:buClr>
              <a:buSzPct val="100000"/>
              <a:buFont typeface="Raleway"/>
              <a:buChar char="●"/>
            </a:pPr>
            <a:r>
              <a:rPr lang="en" sz="6149">
                <a:solidFill>
                  <a:srgbClr val="000000"/>
                </a:solidFill>
                <a:latin typeface="Raleway"/>
                <a:ea typeface="Raleway"/>
                <a:cs typeface="Raleway"/>
                <a:sym typeface="Raleway"/>
              </a:rPr>
              <a:t>Confirms non-monotonic validation dynamics </a:t>
            </a:r>
            <a:endParaRPr sz="6149">
              <a:solidFill>
                <a:srgbClr val="000000"/>
              </a:solidFill>
              <a:latin typeface="Raleway"/>
              <a:ea typeface="Raleway"/>
              <a:cs typeface="Raleway"/>
              <a:sym typeface="Raleway"/>
            </a:endParaRPr>
          </a:p>
          <a:p>
            <a:pPr indent="0" lvl="0" marL="0" rtl="0" algn="l">
              <a:spcBef>
                <a:spcPts val="1200"/>
              </a:spcBef>
              <a:spcAft>
                <a:spcPts val="1200"/>
              </a:spcAft>
              <a:buNone/>
            </a:pPr>
            <a:r>
              <a:t/>
            </a:r>
            <a:endParaRPr/>
          </a:p>
        </p:txBody>
      </p:sp>
      <p:pic>
        <p:nvPicPr>
          <p:cNvPr id="161" name="Google Shape;161;p25"/>
          <p:cNvPicPr preferRelativeResize="0"/>
          <p:nvPr/>
        </p:nvPicPr>
        <p:blipFill>
          <a:blip r:embed="rId3">
            <a:alphaModFix/>
          </a:blip>
          <a:stretch>
            <a:fillRect/>
          </a:stretch>
        </p:blipFill>
        <p:spPr>
          <a:xfrm>
            <a:off x="4294050" y="2006250"/>
            <a:ext cx="4697550" cy="260753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Fairness and Heterogeneity</a:t>
            </a:r>
            <a:endParaRPr/>
          </a:p>
        </p:txBody>
      </p:sp>
      <p:sp>
        <p:nvSpPr>
          <p:cNvPr id="167" name="Google Shape;167;p26"/>
          <p:cNvSpPr txBox="1"/>
          <p:nvPr>
            <p:ph idx="1" type="body"/>
          </p:nvPr>
        </p:nvSpPr>
        <p:spPr>
          <a:xfrm>
            <a:off x="729450" y="2078875"/>
            <a:ext cx="3913200" cy="22611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None/>
            </a:pPr>
            <a:r>
              <a:rPr b="1" lang="en" sz="1500">
                <a:solidFill>
                  <a:srgbClr val="000000"/>
                </a:solidFill>
                <a:latin typeface="Raleway"/>
                <a:ea typeface="Raleway"/>
                <a:cs typeface="Raleway"/>
                <a:sym typeface="Raleway"/>
              </a:rPr>
              <a:t>Key observations</a:t>
            </a:r>
            <a:endParaRPr b="1" sz="1500">
              <a:solidFill>
                <a:srgbClr val="000000"/>
              </a:solidFill>
              <a:latin typeface="Raleway"/>
              <a:ea typeface="Raleway"/>
              <a:cs typeface="Raleway"/>
              <a:sym typeface="Raleway"/>
            </a:endParaRPr>
          </a:p>
          <a:p>
            <a:pPr indent="-309562" lvl="0" marL="457200" rtl="0" algn="l">
              <a:spcBef>
                <a:spcPts val="1200"/>
              </a:spcBef>
              <a:spcAft>
                <a:spcPts val="0"/>
              </a:spcAft>
              <a:buClr>
                <a:srgbClr val="000000"/>
              </a:buClr>
              <a:buSzPct val="100000"/>
              <a:buFont typeface="Arial"/>
              <a:buChar char="●"/>
            </a:pPr>
            <a:r>
              <a:rPr lang="en" sz="1500">
                <a:solidFill>
                  <a:srgbClr val="000000"/>
                </a:solidFill>
                <a:latin typeface="Raleway"/>
                <a:ea typeface="Raleway"/>
                <a:cs typeface="Raleway"/>
                <a:sym typeface="Raleway"/>
              </a:rPr>
              <a:t>Client loss gap drops from </a:t>
            </a:r>
            <a:r>
              <a:rPr b="1" lang="en" sz="1500">
                <a:solidFill>
                  <a:srgbClr val="000000"/>
                </a:solidFill>
                <a:latin typeface="Raleway"/>
                <a:ea typeface="Raleway"/>
                <a:cs typeface="Raleway"/>
                <a:sym typeface="Raleway"/>
              </a:rPr>
              <a:t>0.787 to 0.116</a:t>
            </a:r>
            <a:r>
              <a:rPr lang="en" sz="1500">
                <a:solidFill>
                  <a:srgbClr val="000000"/>
                </a:solidFill>
                <a:latin typeface="Raleway"/>
                <a:ea typeface="Raleway"/>
                <a:cs typeface="Raleway"/>
                <a:sym typeface="Raleway"/>
              </a:rPr>
              <a:t> by round 5</a:t>
            </a:r>
            <a:endParaRPr sz="1500">
              <a:solidFill>
                <a:srgbClr val="000000"/>
              </a:solidFill>
              <a:latin typeface="Raleway"/>
              <a:ea typeface="Raleway"/>
              <a:cs typeface="Raleway"/>
              <a:sym typeface="Raleway"/>
            </a:endParaRPr>
          </a:p>
          <a:p>
            <a:pPr indent="-309562" lvl="0" marL="457200" rtl="0" algn="l">
              <a:spcBef>
                <a:spcPts val="0"/>
              </a:spcBef>
              <a:spcAft>
                <a:spcPts val="0"/>
              </a:spcAft>
              <a:buClr>
                <a:srgbClr val="000000"/>
              </a:buClr>
              <a:buSzPct val="100000"/>
              <a:buFont typeface="Arial"/>
              <a:buChar char="●"/>
            </a:pPr>
            <a:r>
              <a:rPr lang="en" sz="1500">
                <a:solidFill>
                  <a:srgbClr val="000000"/>
                </a:solidFill>
                <a:latin typeface="Raleway"/>
                <a:ea typeface="Raleway"/>
                <a:cs typeface="Raleway"/>
                <a:sym typeface="Raleway"/>
              </a:rPr>
              <a:t>Slight rebound to </a:t>
            </a:r>
            <a:r>
              <a:rPr b="1" lang="en" sz="1500">
                <a:solidFill>
                  <a:srgbClr val="000000"/>
                </a:solidFill>
                <a:latin typeface="Raleway"/>
                <a:ea typeface="Raleway"/>
                <a:cs typeface="Raleway"/>
                <a:sym typeface="Raleway"/>
              </a:rPr>
              <a:t>0.223</a:t>
            </a:r>
            <a:r>
              <a:rPr lang="en" sz="1500">
                <a:solidFill>
                  <a:srgbClr val="000000"/>
                </a:solidFill>
                <a:latin typeface="Raleway"/>
                <a:ea typeface="Raleway"/>
                <a:cs typeface="Raleway"/>
                <a:sym typeface="Raleway"/>
              </a:rPr>
              <a:t> in round 6</a:t>
            </a:r>
            <a:endParaRPr sz="1500">
              <a:solidFill>
                <a:srgbClr val="000000"/>
              </a:solidFill>
              <a:latin typeface="Raleway"/>
              <a:ea typeface="Raleway"/>
              <a:cs typeface="Raleway"/>
              <a:sym typeface="Raleway"/>
            </a:endParaRPr>
          </a:p>
          <a:p>
            <a:pPr indent="-309562" lvl="0" marL="457200" rtl="0" algn="l">
              <a:spcBef>
                <a:spcPts val="0"/>
              </a:spcBef>
              <a:spcAft>
                <a:spcPts val="0"/>
              </a:spcAft>
              <a:buClr>
                <a:srgbClr val="000000"/>
              </a:buClr>
              <a:buSzPct val="100000"/>
              <a:buFont typeface="Raleway"/>
              <a:buChar char="●"/>
            </a:pPr>
            <a:r>
              <a:rPr lang="en" sz="1500">
                <a:solidFill>
                  <a:srgbClr val="000000"/>
                </a:solidFill>
                <a:latin typeface="Raleway"/>
                <a:ea typeface="Raleway"/>
                <a:cs typeface="Raleway"/>
                <a:sym typeface="Raleway"/>
              </a:rPr>
              <a:t>FedAvg helps distribute knowledge across clients</a:t>
            </a:r>
            <a:endParaRPr sz="1500">
              <a:solidFill>
                <a:srgbClr val="000000"/>
              </a:solidFill>
              <a:latin typeface="Raleway"/>
              <a:ea typeface="Raleway"/>
              <a:cs typeface="Raleway"/>
              <a:sym typeface="Raleway"/>
            </a:endParaRPr>
          </a:p>
          <a:p>
            <a:pPr indent="-309562" lvl="0" marL="457200" rtl="0" algn="l">
              <a:spcBef>
                <a:spcPts val="0"/>
              </a:spcBef>
              <a:spcAft>
                <a:spcPts val="0"/>
              </a:spcAft>
              <a:buClr>
                <a:srgbClr val="000000"/>
              </a:buClr>
              <a:buSzPct val="100000"/>
              <a:buFont typeface="Raleway"/>
              <a:buChar char="●"/>
            </a:pPr>
            <a:r>
              <a:rPr lang="en" sz="1500">
                <a:solidFill>
                  <a:srgbClr val="000000"/>
                </a:solidFill>
                <a:latin typeface="Raleway"/>
                <a:ea typeface="Raleway"/>
                <a:cs typeface="Raleway"/>
                <a:sym typeface="Raleway"/>
              </a:rPr>
              <a:t>But fairness is not monotonic and depends on sampling</a:t>
            </a:r>
            <a:endParaRPr sz="1500">
              <a:solidFill>
                <a:srgbClr val="000000"/>
              </a:solidFill>
              <a:latin typeface="Raleway"/>
              <a:ea typeface="Raleway"/>
              <a:cs typeface="Raleway"/>
              <a:sym typeface="Raleway"/>
            </a:endParaRPr>
          </a:p>
          <a:p>
            <a:pPr indent="0" lvl="0" marL="0" rtl="0" algn="l">
              <a:spcBef>
                <a:spcPts val="1200"/>
              </a:spcBef>
              <a:spcAft>
                <a:spcPts val="1200"/>
              </a:spcAft>
              <a:buNone/>
            </a:pPr>
            <a:r>
              <a:t/>
            </a:r>
            <a:endParaRPr/>
          </a:p>
        </p:txBody>
      </p:sp>
      <p:pic>
        <p:nvPicPr>
          <p:cNvPr id="168" name="Google Shape;168;p26"/>
          <p:cNvPicPr preferRelativeResize="0"/>
          <p:nvPr/>
        </p:nvPicPr>
        <p:blipFill>
          <a:blip r:embed="rId3">
            <a:alphaModFix/>
          </a:blip>
          <a:stretch>
            <a:fillRect/>
          </a:stretch>
        </p:blipFill>
        <p:spPr>
          <a:xfrm>
            <a:off x="4795050" y="2006250"/>
            <a:ext cx="4196550" cy="23867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Token Accuracy</a:t>
            </a:r>
            <a:endParaRPr/>
          </a:p>
        </p:txBody>
      </p:sp>
      <p:sp>
        <p:nvSpPr>
          <p:cNvPr id="174" name="Google Shape;174;p27"/>
          <p:cNvSpPr txBox="1"/>
          <p:nvPr>
            <p:ph idx="1" type="body"/>
          </p:nvPr>
        </p:nvSpPr>
        <p:spPr>
          <a:xfrm>
            <a:off x="729450" y="2078875"/>
            <a:ext cx="4065300" cy="22611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500">
                <a:solidFill>
                  <a:srgbClr val="000000"/>
                </a:solidFill>
                <a:latin typeface="Raleway"/>
                <a:ea typeface="Raleway"/>
                <a:cs typeface="Raleway"/>
                <a:sym typeface="Raleway"/>
              </a:rPr>
              <a:t>Key observations</a:t>
            </a:r>
            <a:endParaRPr b="1" sz="1500">
              <a:solidFill>
                <a:srgbClr val="000000"/>
              </a:solidFill>
              <a:latin typeface="Raleway"/>
              <a:ea typeface="Raleway"/>
              <a:cs typeface="Raleway"/>
              <a:sym typeface="Raleway"/>
            </a:endParaRPr>
          </a:p>
          <a:p>
            <a:pPr indent="-323850" lvl="0" marL="457200" rtl="0" algn="l">
              <a:spcBef>
                <a:spcPts val="1200"/>
              </a:spcBef>
              <a:spcAft>
                <a:spcPts val="0"/>
              </a:spcAft>
              <a:buClr>
                <a:srgbClr val="000000"/>
              </a:buClr>
              <a:buSzPts val="1500"/>
              <a:buFont typeface="Arial"/>
              <a:buChar char="●"/>
            </a:pPr>
            <a:r>
              <a:rPr lang="en" sz="1500">
                <a:solidFill>
                  <a:srgbClr val="000000"/>
                </a:solidFill>
                <a:latin typeface="Raleway"/>
                <a:ea typeface="Raleway"/>
                <a:cs typeface="Raleway"/>
                <a:sym typeface="Raleway"/>
              </a:rPr>
              <a:t>Accuracy fluctuates in the </a:t>
            </a:r>
            <a:r>
              <a:rPr b="1" lang="en" sz="1500">
                <a:solidFill>
                  <a:srgbClr val="000000"/>
                </a:solidFill>
                <a:latin typeface="Raleway"/>
                <a:ea typeface="Raleway"/>
                <a:cs typeface="Raleway"/>
                <a:sym typeface="Raleway"/>
              </a:rPr>
              <a:t>1.75% to 2.32%</a:t>
            </a:r>
            <a:r>
              <a:rPr lang="en" sz="1500">
                <a:solidFill>
                  <a:srgbClr val="000000"/>
                </a:solidFill>
                <a:latin typeface="Raleway"/>
                <a:ea typeface="Raleway"/>
                <a:cs typeface="Raleway"/>
                <a:sym typeface="Raleway"/>
              </a:rPr>
              <a:t> range in the 6-round run</a:t>
            </a:r>
            <a:endParaRPr sz="15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Raleway"/>
                <a:ea typeface="Raleway"/>
                <a:cs typeface="Raleway"/>
                <a:sym typeface="Raleway"/>
              </a:rPr>
              <a:t>Highest final token accuracy across experiments is </a:t>
            </a:r>
            <a:r>
              <a:rPr b="1" lang="en" sz="1500">
                <a:solidFill>
                  <a:srgbClr val="000000"/>
                </a:solidFill>
                <a:latin typeface="Raleway"/>
                <a:ea typeface="Raleway"/>
                <a:cs typeface="Raleway"/>
                <a:sym typeface="Raleway"/>
              </a:rPr>
              <a:t>2.49%</a:t>
            </a:r>
            <a:r>
              <a:rPr lang="en" sz="1500">
                <a:solidFill>
                  <a:srgbClr val="000000"/>
                </a:solidFill>
                <a:latin typeface="Raleway"/>
                <a:ea typeface="Raleway"/>
                <a:cs typeface="Raleway"/>
                <a:sym typeface="Raleway"/>
              </a:rPr>
              <a:t> in More Rounds</a:t>
            </a:r>
            <a:endParaRPr sz="15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ts val="1500"/>
              <a:buFont typeface="Raleway"/>
              <a:buChar char="●"/>
            </a:pPr>
            <a:r>
              <a:rPr lang="en" sz="1500">
                <a:solidFill>
                  <a:srgbClr val="000000"/>
                </a:solidFill>
                <a:latin typeface="Raleway"/>
                <a:ea typeface="Raleway"/>
                <a:cs typeface="Raleway"/>
                <a:sym typeface="Raleway"/>
              </a:rPr>
              <a:t>Metric is strict because it requires exact next-token match</a:t>
            </a:r>
            <a:endParaRPr sz="15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ts val="1500"/>
              <a:buFont typeface="Raleway"/>
              <a:buChar char="●"/>
            </a:pPr>
            <a:r>
              <a:rPr lang="en" sz="1500">
                <a:solidFill>
                  <a:srgbClr val="000000"/>
                </a:solidFill>
                <a:latin typeface="Raleway"/>
                <a:ea typeface="Raleway"/>
                <a:cs typeface="Raleway"/>
                <a:sym typeface="Raleway"/>
              </a:rPr>
              <a:t>Useful, but incomplete for instruction-following quality </a:t>
            </a:r>
            <a:endParaRPr sz="1500">
              <a:solidFill>
                <a:srgbClr val="000000"/>
              </a:solidFill>
              <a:latin typeface="Raleway"/>
              <a:ea typeface="Raleway"/>
              <a:cs typeface="Raleway"/>
              <a:sym typeface="Raleway"/>
            </a:endParaRPr>
          </a:p>
          <a:p>
            <a:pPr indent="0" lvl="0" marL="0" rtl="0" algn="l">
              <a:spcBef>
                <a:spcPts val="1200"/>
              </a:spcBef>
              <a:spcAft>
                <a:spcPts val="1200"/>
              </a:spcAft>
              <a:buNone/>
            </a:pPr>
            <a:r>
              <a:t/>
            </a:r>
            <a:endParaRPr/>
          </a:p>
        </p:txBody>
      </p:sp>
      <p:pic>
        <p:nvPicPr>
          <p:cNvPr id="175" name="Google Shape;175;p27"/>
          <p:cNvPicPr preferRelativeResize="0"/>
          <p:nvPr/>
        </p:nvPicPr>
        <p:blipFill>
          <a:blip r:embed="rId3">
            <a:alphaModFix/>
          </a:blip>
          <a:stretch>
            <a:fillRect/>
          </a:stretch>
        </p:blipFill>
        <p:spPr>
          <a:xfrm>
            <a:off x="4947150" y="2006250"/>
            <a:ext cx="4044450" cy="224501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Communication Efficiency</a:t>
            </a:r>
            <a:endParaRPr/>
          </a:p>
        </p:txBody>
      </p:sp>
      <p:sp>
        <p:nvSpPr>
          <p:cNvPr id="181" name="Google Shape;181;p28"/>
          <p:cNvSpPr txBox="1"/>
          <p:nvPr>
            <p:ph idx="1" type="body"/>
          </p:nvPr>
        </p:nvSpPr>
        <p:spPr>
          <a:xfrm>
            <a:off x="729450" y="2078875"/>
            <a:ext cx="3627000" cy="22611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en" sz="1500">
                <a:solidFill>
                  <a:srgbClr val="000000"/>
                </a:solidFill>
                <a:latin typeface="Raleway"/>
                <a:ea typeface="Raleway"/>
                <a:cs typeface="Raleway"/>
                <a:sym typeface="Raleway"/>
              </a:rPr>
              <a:t>Key observations</a:t>
            </a:r>
            <a:endParaRPr b="1" sz="1500">
              <a:solidFill>
                <a:srgbClr val="000000"/>
              </a:solidFill>
              <a:latin typeface="Raleway"/>
              <a:ea typeface="Raleway"/>
              <a:cs typeface="Raleway"/>
              <a:sym typeface="Raleway"/>
            </a:endParaRPr>
          </a:p>
          <a:p>
            <a:pPr indent="-323850" lvl="0" marL="457200" rtl="0" algn="l">
              <a:spcBef>
                <a:spcPts val="1200"/>
              </a:spcBef>
              <a:spcAft>
                <a:spcPts val="0"/>
              </a:spcAft>
              <a:buClr>
                <a:srgbClr val="000000"/>
              </a:buClr>
              <a:buSzPts val="1500"/>
              <a:buFont typeface="Arial"/>
              <a:buChar char="●"/>
            </a:pPr>
            <a:r>
              <a:rPr lang="en" sz="1500">
                <a:solidFill>
                  <a:srgbClr val="000000"/>
                </a:solidFill>
                <a:latin typeface="Raleway"/>
                <a:ea typeface="Raleway"/>
                <a:cs typeface="Raleway"/>
                <a:sym typeface="Raleway"/>
              </a:rPr>
              <a:t>About </a:t>
            </a:r>
            <a:r>
              <a:rPr b="1" lang="en" sz="1500">
                <a:solidFill>
                  <a:srgbClr val="000000"/>
                </a:solidFill>
                <a:latin typeface="Raleway"/>
                <a:ea typeface="Raleway"/>
                <a:cs typeface="Raleway"/>
                <a:sym typeface="Raleway"/>
              </a:rPr>
              <a:t>94.4 MB per round</a:t>
            </a:r>
            <a:endParaRPr b="1" sz="15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ts val="1500"/>
              <a:buFont typeface="Arial"/>
              <a:buChar char="●"/>
            </a:pPr>
            <a:r>
              <a:rPr b="1" lang="en" sz="1500">
                <a:solidFill>
                  <a:srgbClr val="000000"/>
                </a:solidFill>
                <a:latin typeface="Raleway"/>
                <a:ea typeface="Raleway"/>
                <a:cs typeface="Raleway"/>
                <a:sym typeface="Raleway"/>
              </a:rPr>
              <a:t>566.2 MB</a:t>
            </a:r>
            <a:r>
              <a:rPr lang="en" sz="1500">
                <a:solidFill>
                  <a:srgbClr val="000000"/>
                </a:solidFill>
                <a:latin typeface="Raleway"/>
                <a:ea typeface="Raleway"/>
                <a:cs typeface="Raleway"/>
                <a:sym typeface="Raleway"/>
              </a:rPr>
              <a:t> over 6 rounds</a:t>
            </a:r>
            <a:endParaRPr sz="15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Raleway"/>
                <a:ea typeface="Raleway"/>
                <a:cs typeface="Raleway"/>
                <a:sym typeface="Raleway"/>
              </a:rPr>
              <a:t>Full Phi-2 in FP32 would be about </a:t>
            </a:r>
            <a:r>
              <a:rPr b="1" lang="en" sz="1500">
                <a:solidFill>
                  <a:srgbClr val="000000"/>
                </a:solidFill>
                <a:latin typeface="Raleway"/>
                <a:ea typeface="Raleway"/>
                <a:cs typeface="Raleway"/>
                <a:sym typeface="Raleway"/>
              </a:rPr>
              <a:t>10.8 GB per round</a:t>
            </a:r>
            <a:endParaRPr b="1" sz="15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Raleway"/>
                <a:ea typeface="Raleway"/>
                <a:cs typeface="Raleway"/>
                <a:sym typeface="Raleway"/>
              </a:rPr>
              <a:t>Communication reduction is about </a:t>
            </a:r>
            <a:r>
              <a:rPr b="1" lang="en" sz="1500">
                <a:solidFill>
                  <a:srgbClr val="000000"/>
                </a:solidFill>
                <a:latin typeface="Raleway"/>
                <a:ea typeface="Raleway"/>
                <a:cs typeface="Raleway"/>
                <a:sym typeface="Raleway"/>
              </a:rPr>
              <a:t>114×</a:t>
            </a:r>
            <a:endParaRPr b="1" sz="1500">
              <a:solidFill>
                <a:srgbClr val="000000"/>
              </a:solidFill>
              <a:latin typeface="Raleway"/>
              <a:ea typeface="Raleway"/>
              <a:cs typeface="Raleway"/>
              <a:sym typeface="Raleway"/>
            </a:endParaRPr>
          </a:p>
          <a:p>
            <a:pPr indent="0" lvl="0" marL="0" rtl="0" algn="l">
              <a:spcBef>
                <a:spcPts val="1200"/>
              </a:spcBef>
              <a:spcAft>
                <a:spcPts val="1200"/>
              </a:spcAft>
              <a:buNone/>
            </a:pPr>
            <a:r>
              <a:t/>
            </a:r>
            <a:endParaRPr/>
          </a:p>
        </p:txBody>
      </p:sp>
      <p:pic>
        <p:nvPicPr>
          <p:cNvPr id="182" name="Google Shape;182;p28"/>
          <p:cNvPicPr preferRelativeResize="0"/>
          <p:nvPr/>
        </p:nvPicPr>
        <p:blipFill>
          <a:blip r:embed="rId3">
            <a:alphaModFix/>
          </a:blip>
          <a:stretch>
            <a:fillRect/>
          </a:stretch>
        </p:blipFill>
        <p:spPr>
          <a:xfrm>
            <a:off x="4508850" y="2006250"/>
            <a:ext cx="4482750" cy="259840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type="title"/>
          </p:nvPr>
        </p:nvSpPr>
        <p:spPr>
          <a:xfrm>
            <a:off x="727650" y="12649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Cross-Experiment Insights</a:t>
            </a:r>
            <a:endParaRPr/>
          </a:p>
        </p:txBody>
      </p:sp>
      <p:sp>
        <p:nvSpPr>
          <p:cNvPr id="188" name="Google Shape;188;p29"/>
          <p:cNvSpPr txBox="1"/>
          <p:nvPr>
            <p:ph idx="1" type="body"/>
          </p:nvPr>
        </p:nvSpPr>
        <p:spPr>
          <a:xfrm>
            <a:off x="727650" y="1738975"/>
            <a:ext cx="7688700" cy="22611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None/>
            </a:pPr>
            <a:r>
              <a:rPr b="1" lang="en" sz="6000">
                <a:solidFill>
                  <a:srgbClr val="000000"/>
                </a:solidFill>
                <a:latin typeface="Raleway"/>
                <a:ea typeface="Raleway"/>
                <a:cs typeface="Raleway"/>
                <a:sym typeface="Raleway"/>
              </a:rPr>
              <a:t>Data heterogeneity</a:t>
            </a:r>
            <a:endParaRPr b="1" sz="6000">
              <a:solidFill>
                <a:srgbClr val="000000"/>
              </a:solidFill>
              <a:latin typeface="Raleway"/>
              <a:ea typeface="Raleway"/>
              <a:cs typeface="Raleway"/>
              <a:sym typeface="Raleway"/>
            </a:endParaRPr>
          </a:p>
          <a:p>
            <a:pPr indent="-323850" lvl="0" marL="457200" rtl="0" algn="l">
              <a:spcBef>
                <a:spcPts val="1200"/>
              </a:spcBef>
              <a:spcAft>
                <a:spcPts val="0"/>
              </a:spcAft>
              <a:buClr>
                <a:srgbClr val="000000"/>
              </a:buClr>
              <a:buSzPct val="100000"/>
              <a:buFont typeface="Arial"/>
              <a:buChar char="●"/>
            </a:pPr>
            <a:r>
              <a:rPr lang="en" sz="6000">
                <a:solidFill>
                  <a:srgbClr val="000000"/>
                </a:solidFill>
                <a:latin typeface="Raleway"/>
                <a:ea typeface="Raleway"/>
                <a:cs typeface="Raleway"/>
                <a:sym typeface="Raleway"/>
              </a:rPr>
              <a:t>Non-IID raises fairness gap from </a:t>
            </a:r>
            <a:r>
              <a:rPr b="1" lang="en" sz="6000">
                <a:solidFill>
                  <a:srgbClr val="000000"/>
                </a:solidFill>
                <a:latin typeface="Raleway"/>
                <a:ea typeface="Raleway"/>
                <a:cs typeface="Raleway"/>
                <a:sym typeface="Raleway"/>
              </a:rPr>
              <a:t>0.053 to 0.292</a:t>
            </a:r>
            <a:endParaRPr b="1"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Arial"/>
              <a:buChar char="●"/>
            </a:pPr>
            <a:r>
              <a:rPr lang="en" sz="6000">
                <a:solidFill>
                  <a:srgbClr val="000000"/>
                </a:solidFill>
                <a:latin typeface="Raleway"/>
                <a:ea typeface="Raleway"/>
                <a:cs typeface="Raleway"/>
                <a:sym typeface="Raleway"/>
              </a:rPr>
              <a:t>About </a:t>
            </a:r>
            <a:r>
              <a:rPr b="1" lang="en" sz="6000">
                <a:solidFill>
                  <a:srgbClr val="000000"/>
                </a:solidFill>
                <a:latin typeface="Raleway"/>
                <a:ea typeface="Raleway"/>
                <a:cs typeface="Raleway"/>
                <a:sym typeface="Raleway"/>
              </a:rPr>
              <a:t>5.5× larger</a:t>
            </a:r>
            <a:r>
              <a:rPr lang="en" sz="6000">
                <a:solidFill>
                  <a:srgbClr val="000000"/>
                </a:solidFill>
                <a:latin typeface="Raleway"/>
                <a:ea typeface="Raleway"/>
                <a:cs typeface="Raleway"/>
                <a:sym typeface="Raleway"/>
              </a:rPr>
              <a:t> than IID</a:t>
            </a:r>
            <a:endParaRPr sz="6000">
              <a:solidFill>
                <a:srgbClr val="000000"/>
              </a:solidFill>
              <a:latin typeface="Raleway"/>
              <a:ea typeface="Raleway"/>
              <a:cs typeface="Raleway"/>
              <a:sym typeface="Raleway"/>
            </a:endParaRPr>
          </a:p>
          <a:p>
            <a:pPr indent="0" lvl="0" marL="0" rtl="0" algn="l">
              <a:spcBef>
                <a:spcPts val="1200"/>
              </a:spcBef>
              <a:spcAft>
                <a:spcPts val="0"/>
              </a:spcAft>
              <a:buNone/>
            </a:pPr>
            <a:r>
              <a:rPr b="1" lang="en" sz="6000">
                <a:solidFill>
                  <a:srgbClr val="000000"/>
                </a:solidFill>
                <a:latin typeface="Raleway"/>
                <a:ea typeface="Raleway"/>
                <a:cs typeface="Raleway"/>
                <a:sym typeface="Raleway"/>
              </a:rPr>
              <a:t>Higher client fraction</a:t>
            </a:r>
            <a:endParaRPr b="1" sz="6000">
              <a:solidFill>
                <a:srgbClr val="000000"/>
              </a:solidFill>
              <a:latin typeface="Raleway"/>
              <a:ea typeface="Raleway"/>
              <a:cs typeface="Raleway"/>
              <a:sym typeface="Raleway"/>
            </a:endParaRPr>
          </a:p>
          <a:p>
            <a:pPr indent="-323850" lvl="0" marL="457200" rtl="0" algn="l">
              <a:spcBef>
                <a:spcPts val="1200"/>
              </a:spcBef>
              <a:spcAft>
                <a:spcPts val="0"/>
              </a:spcAft>
              <a:buClr>
                <a:srgbClr val="000000"/>
              </a:buClr>
              <a:buSzPct val="100000"/>
              <a:buFont typeface="Arial"/>
              <a:buChar char="●"/>
            </a:pPr>
            <a:r>
              <a:rPr lang="en" sz="6000">
                <a:solidFill>
                  <a:srgbClr val="000000"/>
                </a:solidFill>
                <a:latin typeface="Raleway"/>
                <a:ea typeface="Raleway"/>
                <a:cs typeface="Raleway"/>
                <a:sym typeface="Raleway"/>
              </a:rPr>
              <a:t>Reduces gap from </a:t>
            </a:r>
            <a:r>
              <a:rPr b="1" lang="en" sz="6000">
                <a:solidFill>
                  <a:srgbClr val="000000"/>
                </a:solidFill>
                <a:latin typeface="Raleway"/>
                <a:ea typeface="Raleway"/>
                <a:cs typeface="Raleway"/>
                <a:sym typeface="Raleway"/>
              </a:rPr>
              <a:t>0.292 to 0.213</a:t>
            </a:r>
            <a:endParaRPr b="1"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Arial"/>
              <a:buChar char="●"/>
            </a:pPr>
            <a:r>
              <a:rPr lang="en" sz="6000">
                <a:solidFill>
                  <a:srgbClr val="000000"/>
                </a:solidFill>
                <a:latin typeface="Raleway"/>
                <a:ea typeface="Raleway"/>
                <a:cs typeface="Raleway"/>
                <a:sym typeface="Raleway"/>
              </a:rPr>
              <a:t>Improves token accuracy from </a:t>
            </a:r>
            <a:r>
              <a:rPr b="1" lang="en" sz="6000">
                <a:solidFill>
                  <a:srgbClr val="000000"/>
                </a:solidFill>
                <a:latin typeface="Raleway"/>
                <a:ea typeface="Raleway"/>
                <a:cs typeface="Raleway"/>
                <a:sym typeface="Raleway"/>
              </a:rPr>
              <a:t>1.91% to 2.21%</a:t>
            </a:r>
            <a:endParaRPr b="1" sz="6000">
              <a:solidFill>
                <a:srgbClr val="000000"/>
              </a:solidFill>
              <a:latin typeface="Raleway"/>
              <a:ea typeface="Raleway"/>
              <a:cs typeface="Raleway"/>
              <a:sym typeface="Raleway"/>
            </a:endParaRPr>
          </a:p>
          <a:p>
            <a:pPr indent="0" lvl="0" marL="0" rtl="0" algn="l">
              <a:spcBef>
                <a:spcPts val="1200"/>
              </a:spcBef>
              <a:spcAft>
                <a:spcPts val="0"/>
              </a:spcAft>
              <a:buNone/>
            </a:pPr>
            <a:r>
              <a:rPr b="1" lang="en" sz="6000">
                <a:solidFill>
                  <a:srgbClr val="000000"/>
                </a:solidFill>
                <a:latin typeface="Raleway"/>
                <a:ea typeface="Raleway"/>
                <a:cs typeface="Raleway"/>
                <a:sym typeface="Raleway"/>
              </a:rPr>
              <a:t>More rounds</a:t>
            </a:r>
            <a:endParaRPr b="1" sz="6000">
              <a:solidFill>
                <a:srgbClr val="000000"/>
              </a:solidFill>
              <a:latin typeface="Raleway"/>
              <a:ea typeface="Raleway"/>
              <a:cs typeface="Raleway"/>
              <a:sym typeface="Raleway"/>
            </a:endParaRPr>
          </a:p>
          <a:p>
            <a:pPr indent="-323850" lvl="0" marL="457200" rtl="0" algn="l">
              <a:spcBef>
                <a:spcPts val="1200"/>
              </a:spcBef>
              <a:spcAft>
                <a:spcPts val="0"/>
              </a:spcAft>
              <a:buClr>
                <a:srgbClr val="000000"/>
              </a:buClr>
              <a:buSzPct val="100000"/>
              <a:buFont typeface="Arial"/>
              <a:buChar char="●"/>
            </a:pPr>
            <a:r>
              <a:rPr lang="en" sz="6000">
                <a:solidFill>
                  <a:srgbClr val="000000"/>
                </a:solidFill>
                <a:latin typeface="Raleway"/>
                <a:ea typeface="Raleway"/>
                <a:cs typeface="Raleway"/>
                <a:sym typeface="Raleway"/>
              </a:rPr>
              <a:t>Lowers training loss to </a:t>
            </a:r>
            <a:r>
              <a:rPr b="1" lang="en" sz="6000">
                <a:solidFill>
                  <a:srgbClr val="000000"/>
                </a:solidFill>
                <a:latin typeface="Raleway"/>
                <a:ea typeface="Raleway"/>
                <a:cs typeface="Raleway"/>
                <a:sym typeface="Raleway"/>
              </a:rPr>
              <a:t>0.783</a:t>
            </a:r>
            <a:endParaRPr b="1"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Arial"/>
              <a:buChar char="●"/>
            </a:pPr>
            <a:r>
              <a:rPr lang="en" sz="6000">
                <a:solidFill>
                  <a:srgbClr val="000000"/>
                </a:solidFill>
                <a:latin typeface="Raleway"/>
                <a:ea typeface="Raleway"/>
                <a:cs typeface="Raleway"/>
                <a:sym typeface="Raleway"/>
              </a:rPr>
              <a:t>Raises token accuracy to </a:t>
            </a:r>
            <a:r>
              <a:rPr b="1" lang="en" sz="6000">
                <a:solidFill>
                  <a:srgbClr val="000000"/>
                </a:solidFill>
                <a:latin typeface="Raleway"/>
                <a:ea typeface="Raleway"/>
                <a:cs typeface="Raleway"/>
                <a:sym typeface="Raleway"/>
              </a:rPr>
              <a:t>2.49%</a:t>
            </a:r>
            <a:endParaRPr b="1"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But validation/perplexity improve only modestly</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Arial"/>
              <a:buChar char="●"/>
            </a:pPr>
            <a:r>
              <a:rPr lang="en" sz="6000">
                <a:solidFill>
                  <a:srgbClr val="000000"/>
                </a:solidFill>
                <a:latin typeface="Raleway"/>
                <a:ea typeface="Raleway"/>
                <a:cs typeface="Raleway"/>
                <a:sym typeface="Raleway"/>
              </a:rPr>
              <a:t>Communication cost rises from </a:t>
            </a:r>
            <a:r>
              <a:rPr b="1" lang="en" sz="6000">
                <a:solidFill>
                  <a:srgbClr val="000000"/>
                </a:solidFill>
                <a:latin typeface="Raleway"/>
                <a:ea typeface="Raleway"/>
                <a:cs typeface="Raleway"/>
                <a:sym typeface="Raleway"/>
              </a:rPr>
              <a:t>540 MB to 900 MB</a:t>
            </a:r>
            <a:endParaRPr b="1" sz="6000">
              <a:solidFill>
                <a:srgbClr val="000000"/>
              </a:solidFill>
              <a:latin typeface="Raleway"/>
              <a:ea typeface="Raleway"/>
              <a:cs typeface="Raleway"/>
              <a:sym typeface="Raleway"/>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ph type="title"/>
          </p:nvPr>
        </p:nvSpPr>
        <p:spPr>
          <a:xfrm>
            <a:off x="727650" y="612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 Limitations, and Future Work</a:t>
            </a:r>
            <a:endParaRPr/>
          </a:p>
        </p:txBody>
      </p:sp>
      <p:sp>
        <p:nvSpPr>
          <p:cNvPr id="194" name="Google Shape;194;p30"/>
          <p:cNvSpPr txBox="1"/>
          <p:nvPr>
            <p:ph idx="1" type="body"/>
          </p:nvPr>
        </p:nvSpPr>
        <p:spPr>
          <a:xfrm>
            <a:off x="727650" y="1147200"/>
            <a:ext cx="7688700" cy="22611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None/>
            </a:pPr>
            <a:r>
              <a:rPr b="1" lang="en" sz="6000">
                <a:solidFill>
                  <a:srgbClr val="000000"/>
                </a:solidFill>
                <a:latin typeface="Raleway"/>
                <a:ea typeface="Raleway"/>
                <a:cs typeface="Raleway"/>
                <a:sym typeface="Raleway"/>
              </a:rPr>
              <a:t>Practical implications</a:t>
            </a:r>
            <a:endParaRPr b="1" sz="6000">
              <a:solidFill>
                <a:srgbClr val="000000"/>
              </a:solidFill>
              <a:latin typeface="Raleway"/>
              <a:ea typeface="Raleway"/>
              <a:cs typeface="Raleway"/>
              <a:sym typeface="Raleway"/>
            </a:endParaRPr>
          </a:p>
          <a:p>
            <a:pPr indent="-323850" lvl="0" marL="457200" rtl="0" algn="l">
              <a:spcBef>
                <a:spcPts val="120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LoRA + QLoRA makes FL of LLMs feasible</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Communication bottleneck is greatly reduced</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Compute bottleneck remains on client side</a:t>
            </a:r>
            <a:endParaRPr sz="6000">
              <a:solidFill>
                <a:srgbClr val="000000"/>
              </a:solidFill>
              <a:latin typeface="Raleway"/>
              <a:ea typeface="Raleway"/>
              <a:cs typeface="Raleway"/>
              <a:sym typeface="Raleway"/>
            </a:endParaRPr>
          </a:p>
          <a:p>
            <a:pPr indent="0" lvl="0" marL="0" rtl="0" algn="l">
              <a:spcBef>
                <a:spcPts val="1200"/>
              </a:spcBef>
              <a:spcAft>
                <a:spcPts val="0"/>
              </a:spcAft>
              <a:buNone/>
            </a:pPr>
            <a:r>
              <a:rPr b="1" lang="en" sz="6000">
                <a:solidFill>
                  <a:srgbClr val="000000"/>
                </a:solidFill>
                <a:latin typeface="Raleway"/>
                <a:ea typeface="Raleway"/>
                <a:cs typeface="Raleway"/>
                <a:sym typeface="Raleway"/>
              </a:rPr>
              <a:t>Limitations</a:t>
            </a:r>
            <a:endParaRPr b="1" sz="6000">
              <a:solidFill>
                <a:srgbClr val="000000"/>
              </a:solidFill>
              <a:latin typeface="Raleway"/>
              <a:ea typeface="Raleway"/>
              <a:cs typeface="Raleway"/>
              <a:sym typeface="Raleway"/>
            </a:endParaRPr>
          </a:p>
          <a:p>
            <a:pPr indent="-323850" lvl="0" marL="457200" rtl="0" algn="l">
              <a:spcBef>
                <a:spcPts val="120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only 800 train / 200 validation examples</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6 to 10 rounds only</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single local epoch</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token accuracy is limited as a quality metric</a:t>
            </a:r>
            <a:endParaRPr sz="6000">
              <a:solidFill>
                <a:srgbClr val="000000"/>
              </a:solidFill>
              <a:latin typeface="Raleway"/>
              <a:ea typeface="Raleway"/>
              <a:cs typeface="Raleway"/>
              <a:sym typeface="Raleway"/>
            </a:endParaRPr>
          </a:p>
          <a:p>
            <a:pPr indent="0" lvl="0" marL="0" rtl="0" algn="l">
              <a:spcBef>
                <a:spcPts val="1200"/>
              </a:spcBef>
              <a:spcAft>
                <a:spcPts val="0"/>
              </a:spcAft>
              <a:buNone/>
            </a:pPr>
            <a:r>
              <a:rPr b="1" lang="en" sz="6000">
                <a:solidFill>
                  <a:srgbClr val="000000"/>
                </a:solidFill>
                <a:latin typeface="Raleway"/>
                <a:ea typeface="Raleway"/>
                <a:cs typeface="Raleway"/>
                <a:sym typeface="Raleway"/>
              </a:rPr>
              <a:t>Future work</a:t>
            </a:r>
            <a:endParaRPr b="1" sz="6000">
              <a:solidFill>
                <a:srgbClr val="000000"/>
              </a:solidFill>
              <a:latin typeface="Raleway"/>
              <a:ea typeface="Raleway"/>
              <a:cs typeface="Raleway"/>
              <a:sym typeface="Raleway"/>
            </a:endParaRPr>
          </a:p>
          <a:p>
            <a:pPr indent="-323850" lvl="0" marL="457200" rtl="0" algn="l">
              <a:spcBef>
                <a:spcPts val="120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FedProx / SCAFFOLD</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personalized adapters</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larger datasets</a:t>
            </a:r>
            <a:endParaRPr sz="6000">
              <a:solidFill>
                <a:srgbClr val="000000"/>
              </a:solidFill>
              <a:latin typeface="Raleway"/>
              <a:ea typeface="Raleway"/>
              <a:cs typeface="Raleway"/>
              <a:sym typeface="Raleway"/>
            </a:endParaRPr>
          </a:p>
          <a:p>
            <a:pPr indent="-323850" lvl="0" marL="457200" rtl="0" algn="l">
              <a:spcBef>
                <a:spcPts val="0"/>
              </a:spcBef>
              <a:spcAft>
                <a:spcPts val="0"/>
              </a:spcAft>
              <a:buClr>
                <a:srgbClr val="000000"/>
              </a:buClr>
              <a:buSzPct val="100000"/>
              <a:buFont typeface="Raleway"/>
              <a:buChar char="●"/>
            </a:pPr>
            <a:r>
              <a:rPr lang="en" sz="6000">
                <a:solidFill>
                  <a:srgbClr val="000000"/>
                </a:solidFill>
                <a:latin typeface="Raleway"/>
                <a:ea typeface="Raleway"/>
                <a:cs typeface="Raleway"/>
                <a:sym typeface="Raleway"/>
              </a:rPr>
              <a:t>better generation-quality metrics</a:t>
            </a:r>
            <a:endParaRPr sz="6000">
              <a:solidFill>
                <a:srgbClr val="000000"/>
              </a:solidFill>
              <a:latin typeface="Raleway"/>
              <a:ea typeface="Raleway"/>
              <a:cs typeface="Raleway"/>
              <a:sym typeface="Raleway"/>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7650" y="2304150"/>
            <a:ext cx="7688700" cy="5352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1200"/>
              </a:spcBef>
              <a:spcAft>
                <a:spcPts val="120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